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9396"/>
    <a:srgbClr val="F4F9F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6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D1B2A"/>
                </a:solidFill>
                <a:latin typeface="Arial"/>
              </a:rPr>
              <a:t>ROC-AUC by Model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AUC</c:v>
                </c:pt>
              </c:strCache>
            </c:strRef>
          </c:tx>
          <c:spPr>
            <a:solidFill>
              <a:srgbClr val="94D2B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94F-43CE-9A2D-8F59528C5A76}"/>
              </c:ext>
            </c:extLst>
          </c:dPt>
          <c:dPt>
            <c:idx val="1"/>
            <c:invertIfNegative val="0"/>
            <c:bubble3D val="0"/>
            <c:spPr>
              <a:solidFill>
                <a:srgbClr val="0A93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94F-43CE-9A2D-8F59528C5A76}"/>
              </c:ext>
            </c:extLst>
          </c:dPt>
          <c:dPt>
            <c:idx val="2"/>
            <c:invertIfNegative val="0"/>
            <c:bubble3D val="0"/>
            <c:spPr>
              <a:solidFill>
                <a:srgbClr val="1D7A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94F-43CE-9A2D-8F59528C5A76}"/>
              </c:ext>
            </c:extLst>
          </c:dPt>
          <c:dPt>
            <c:idx val="3"/>
            <c:invertIfNegative val="0"/>
            <c:bubble3D val="0"/>
            <c:spPr>
              <a:solidFill>
                <a:srgbClr val="0D1B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94F-43CE-9A2D-8F59528C5A76}"/>
              </c:ext>
            </c:extLst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Logistic
Regression</c:v>
                </c:pt>
                <c:pt idx="1">
                  <c:v>Random
Forest</c:v>
                </c:pt>
                <c:pt idx="2">
                  <c:v>XGBoost</c:v>
                </c:pt>
                <c:pt idx="3">
                  <c:v>LightGBM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0.71909999999999996</c:v>
                </c:pt>
                <c:pt idx="1">
                  <c:v>0.73119999999999996</c:v>
                </c:pt>
                <c:pt idx="2">
                  <c:v>0.75409999999999999</c:v>
                </c:pt>
                <c:pt idx="3">
                  <c:v>0.76790000000000003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94F-43CE-9A2D-8F59528C5A7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0.6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6245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iqar/Credit-risk-prediction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redit-risk-prediction-better.streamlit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3474720" cy="347472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182880"/>
            <a:ext cx="2377440" cy="2377440"/>
          </a:xfrm>
          <a:prstGeom prst="ellipse">
            <a:avLst/>
          </a:prstGeom>
          <a:solidFill>
            <a:srgbClr val="0A9396">
              <a:alpha val="30000"/>
            </a:srgbClr>
          </a:solidFill>
          <a:ln w="12700">
            <a:solidFill>
              <a:srgbClr val="0A9396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11480" y="178308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11480" y="27889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Pipeline for Loan Default Detection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1480" y="3429000"/>
            <a:ext cx="3200400" cy="38404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4290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 Default Risk  |  Kaggle Dataset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Dataset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4114800" cy="35661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430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572768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 serves borrowers with little or no credit history — underserved by traditional banks.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Approving a bad loan is costly. Rejecting a good applicant loses a customer.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well-calibrated default probability model enables smarter decisions at the application stage.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2011680" cy="15544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20700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307K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754880" y="2011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49440" y="1005840"/>
            <a:ext cx="2011680" cy="15544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949440" y="120700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949440" y="2011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880360"/>
            <a:ext cx="2011680" cy="15544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308152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8.07%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754880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49440" y="2880360"/>
            <a:ext cx="2011680" cy="15544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49440" y="308152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949440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Features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6-Step ML Workflow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2560320" cy="15544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261872"/>
            <a:ext cx="475488" cy="475488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261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07008" y="12801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Audit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184708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80+ columns dropped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documented reasons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560320" cy="15544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56432" y="1261872"/>
            <a:ext cx="475488" cy="475488"/>
          </a:xfrm>
          <a:prstGeom prst="ellipse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56432" y="1261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041648" y="12801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56432" y="184708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imbalance, missing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values, multicollinearity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560320" cy="15544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91072" y="1261872"/>
            <a:ext cx="475488" cy="475488"/>
          </a:xfrm>
          <a:prstGeom prst="ellipse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91072" y="1261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76288" y="12801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91072" y="184708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Ratios, cyclical encoding,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 score interactions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880360"/>
            <a:ext cx="2560320" cy="15544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" y="3044952"/>
            <a:ext cx="475488" cy="475488"/>
          </a:xfrm>
          <a:prstGeom prst="ellipse">
            <a:avLst/>
          </a:prstGeom>
          <a:solidFill>
            <a:srgbClr val="3B5FA0"/>
          </a:solidFill>
          <a:ln w="12700">
            <a:solidFill>
              <a:srgbClr val="3B5F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3044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07008" y="30632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1792" y="363016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 → 29 features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performance loss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2880360"/>
            <a:ext cx="2560320" cy="15544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56432" y="3044952"/>
            <a:ext cx="475488" cy="475488"/>
          </a:xfrm>
          <a:prstGeom prst="ellipse">
            <a:avLst/>
          </a:prstGeom>
          <a:solidFill>
            <a:srgbClr val="3B4E8C"/>
          </a:solidFill>
          <a:ln w="12700">
            <a:solidFill>
              <a:srgbClr val="3B4E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56432" y="3044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041648" y="30632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56432" y="363016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Leak-proof sklearn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end-to-end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2880360"/>
            <a:ext cx="2560320" cy="15544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91072" y="3044952"/>
            <a:ext cx="475488" cy="475488"/>
          </a:xfrm>
          <a:prstGeom prst="ellipse">
            <a:avLst/>
          </a:prstGeom>
          <a:solidFill>
            <a:srgbClr val="2D3A6E"/>
          </a:solidFill>
          <a:ln w="12700">
            <a:solidFill>
              <a:srgbClr val="2D3A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91072" y="3044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876288" y="30632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Tuning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91072" y="363016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models benchmarked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hyperparameter tuning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Scikit-learn Transformers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420624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91440" cy="6400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1064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FeatureEngineer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" y="13807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11 derived features — financial ratios, cyclical hour encoding, ext_source interactions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051560"/>
            <a:ext cx="420624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51560"/>
            <a:ext cx="91440" cy="6400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47488" y="11064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InvalidValueCleaner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47488" y="13807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XNA, Unknown, None and similar placeholders with NaN for proper imputation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819656"/>
            <a:ext cx="420624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819656"/>
            <a:ext cx="91440" cy="6400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1874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DtypeFixer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" y="21488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non-negative all-integer floats (e.g. 1.0, 2.0) to nullable Int64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1819656"/>
            <a:ext cx="420624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1819656"/>
            <a:ext cx="91440" cy="6400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47488" y="1874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MissingIndicator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47488" y="21488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_missing flag columns only where missingness correlates with default (chi² p &lt; 0.05)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587752"/>
            <a:ext cx="420624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587752"/>
            <a:ext cx="91440" cy="6400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26426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CorrelatedFeatureDropper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" y="29169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one feature from each pair with |Pearson corr| ≥ 0.8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587752"/>
            <a:ext cx="420624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587752"/>
            <a:ext cx="91440" cy="6400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47488" y="26426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RareCategoryMerger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47488" y="29169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rare categories (&lt; 4%) with below-average default rate into 'other'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355848"/>
            <a:ext cx="420624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355848"/>
            <a:ext cx="91440" cy="6400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34107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OutlierCapper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36850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Clips numeric values to the [1%, 99%] quantile range to limit extreme outlier influence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3355848"/>
            <a:ext cx="420624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3355848"/>
            <a:ext cx="91440" cy="6400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47488" y="34107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Log1pTransformer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47488" y="36850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log(1+x) to non-negative skewed features (|skewness| ≥ 1)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123944"/>
            <a:ext cx="822960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7200" y="4123944"/>
            <a:ext cx="91440" cy="6400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" y="41788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Top90PercentImportanceSelector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58368" y="44531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LightGBM internally; keeps features covering top 90% cumulative importance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5029200" cy="3749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1556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Features Created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517904"/>
            <a:ext cx="4846320" cy="320040"/>
          </a:xfrm>
          <a:prstGeom prst="rect">
            <a:avLst/>
          </a:prstGeom>
          <a:solidFill>
            <a:srgbClr val="F0F9FB"/>
          </a:solidFill>
          <a:ln w="12700">
            <a:solidFill>
              <a:srgbClr val="F0F9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544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credit_income_ratio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834640" y="15544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amt_credit / amt_income_total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856232"/>
            <a:ext cx="48463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8928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annuity_income_ratio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34640" y="18928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amt_annuity / amt_income_total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194560"/>
            <a:ext cx="4846320" cy="320040"/>
          </a:xfrm>
          <a:prstGeom prst="rect">
            <a:avLst/>
          </a:prstGeom>
          <a:solidFill>
            <a:srgbClr val="F0F9FB"/>
          </a:solidFill>
          <a:ln w="12700">
            <a:solidFill>
              <a:srgbClr val="F0F9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2311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credit_duration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34640" y="22311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amt_credit / amt_annuity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532888"/>
            <a:ext cx="48463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5694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age_years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34640" y="25694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days_birth / -365.25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2871216"/>
            <a:ext cx="4846320" cy="320040"/>
          </a:xfrm>
          <a:prstGeom prst="rect">
            <a:avLst/>
          </a:prstGeom>
          <a:solidFill>
            <a:srgbClr val="F0F9FB"/>
          </a:solidFill>
          <a:ln w="12700">
            <a:solidFill>
              <a:srgbClr val="F0F9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9077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employed_years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834640" y="29077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days_employed / -365.25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209544"/>
            <a:ext cx="48463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2461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employed_to_age_ratio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834640" y="32461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employed_years / age_years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547872"/>
            <a:ext cx="4846320" cy="320040"/>
          </a:xfrm>
          <a:prstGeom prst="rect">
            <a:avLst/>
          </a:prstGeom>
          <a:solidFill>
            <a:srgbClr val="F0F9FB"/>
          </a:solidFill>
          <a:ln w="12700">
            <a:solidFill>
              <a:srgbClr val="F0F9F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5844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sin_hour / cos_hour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834640" y="35844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Cyclical encoding of application hour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3886200"/>
            <a:ext cx="48463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9227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ext_mean / ext_std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834640" y="39227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&amp; std of ext_source_1, 2, 3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4224528"/>
            <a:ext cx="4846320" cy="320040"/>
          </a:xfrm>
          <a:prstGeom prst="rect">
            <a:avLst/>
          </a:prstGeom>
          <a:solidFill>
            <a:srgbClr val="F0F9FB"/>
          </a:solidFill>
          <a:ln w="12700">
            <a:solidFill>
              <a:srgbClr val="F0F9F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2611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ext_prod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834640" y="42611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ext_source_1 × ext_source_2 × ext_source_3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69280" y="1005840"/>
            <a:ext cx="3017520" cy="3749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852160" y="11155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Reduction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852160" y="1600200"/>
            <a:ext cx="2377440" cy="2926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52160" y="191109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Info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955280" y="191109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852160" y="2221992"/>
            <a:ext cx="1011677" cy="292608"/>
          </a:xfrm>
          <a:prstGeom prst="rect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52160" y="25328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Flags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955280" y="25328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852160" y="2843784"/>
            <a:ext cx="303503" cy="292608"/>
          </a:xfrm>
          <a:prstGeom prst="rect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52160" y="31546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Enquiries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955280" y="31546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852160" y="3465576"/>
            <a:ext cx="151751" cy="292608"/>
          </a:xfrm>
          <a:prstGeom prst="rect">
            <a:avLst/>
          </a:prstGeom>
          <a:solidFill>
            <a:srgbClr val="3B5FA0"/>
          </a:solidFill>
          <a:ln w="12700">
            <a:solidFill>
              <a:srgbClr val="3B5FA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52160" y="37764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Flags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955280" y="37764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B5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852160" y="4087368"/>
            <a:ext cx="202335" cy="292608"/>
          </a:xfrm>
          <a:prstGeom prst="rect">
            <a:avLst/>
          </a:prstGeom>
          <a:solidFill>
            <a:srgbClr val="3B4E8C"/>
          </a:solidFill>
          <a:ln w="12700">
            <a:solidFill>
              <a:srgbClr val="3B4E8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52160" y="439826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955280" y="439826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B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Benchmarking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925018330"/>
              </p:ext>
            </p:extLst>
          </p:nvPr>
        </p:nvGraphicFramePr>
        <p:xfrm>
          <a:off x="457200" y="1005840"/>
          <a:ext cx="50292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005840"/>
            <a:ext cx="3017520" cy="32918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852160" y="11155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Models Compared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715000" y="1517904"/>
            <a:ext cx="2926080" cy="38404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1554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766560" y="15544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635240" y="15544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715000" y="1947672"/>
            <a:ext cx="29260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06440" y="19842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766560" y="19842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0.7603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635240" y="19842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0.7679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715000" y="2377440"/>
            <a:ext cx="2926080" cy="384048"/>
          </a:xfrm>
          <a:prstGeom prst="rect">
            <a:avLst/>
          </a:prstGeom>
          <a:solidFill>
            <a:srgbClr val="F0F9FB"/>
          </a:solidFill>
          <a:ln w="12700">
            <a:solidFill>
              <a:srgbClr val="F0F9F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06440" y="24140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766560" y="24140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0.2437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635240" y="24140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0.2553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715000" y="2807208"/>
            <a:ext cx="29260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06440" y="2843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766560" y="28437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635240" y="28437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0.2911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715000" y="3236976"/>
            <a:ext cx="2926080" cy="384048"/>
          </a:xfrm>
          <a:prstGeom prst="rect">
            <a:avLst/>
          </a:prstGeom>
          <a:solidFill>
            <a:srgbClr val="F0F9FB"/>
          </a:solidFill>
          <a:ln w="12700">
            <a:solidFill>
              <a:srgbClr val="F0F9F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06440" y="32735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766560" y="32735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635240" y="32735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0.1894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715000" y="3666744"/>
            <a:ext cx="29260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3703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766560" y="3703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635240" y="3703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0.6290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715000" y="4069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LightGBM selected for tuning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— Optuna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777240"/>
          </a:xfrm>
          <a:prstGeom prst="rect">
            <a:avLst/>
          </a:prstGeom>
          <a:solidFill>
            <a:srgbClr val="EBF8FA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7043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 =  mean_val_AUC  −  GAP_PENALTY × mean(train_AUC − val_AUC)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4206240" cy="28346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0299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Space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32304"/>
            <a:ext cx="4023360" cy="301752"/>
          </a:xfrm>
          <a:prstGeom prst="rect">
            <a:avLst/>
          </a:prstGeom>
          <a:solidFill>
            <a:srgbClr val="F0F9FB"/>
          </a:solidFill>
          <a:ln w="12700">
            <a:solidFill>
              <a:srgbClr val="F0F9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46888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06040" y="24688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– 2,000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761488"/>
            <a:ext cx="40233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79806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06040" y="27980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 – 0.10 (log)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090672"/>
            <a:ext cx="4023360" cy="301752"/>
          </a:xfrm>
          <a:prstGeom prst="rect">
            <a:avLst/>
          </a:prstGeom>
          <a:solidFill>
            <a:srgbClr val="F0F9FB"/>
          </a:solidFill>
          <a:ln w="12700">
            <a:solidFill>
              <a:srgbClr val="F0F9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12724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num_leaves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06040" y="31272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– 63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419856"/>
            <a:ext cx="40233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45643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06040" y="34564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– 6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4023360" cy="301752"/>
          </a:xfrm>
          <a:prstGeom prst="rect">
            <a:avLst/>
          </a:prstGeom>
          <a:solidFill>
            <a:srgbClr val="F0F9FB"/>
          </a:solidFill>
          <a:ln w="12700">
            <a:solidFill>
              <a:srgbClr val="F0F9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378561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min_child_samples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06040" y="37856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– 500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078224"/>
            <a:ext cx="40233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411480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subsample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606040" y="41148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 – 1.0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407408"/>
            <a:ext cx="4023360" cy="301752"/>
          </a:xfrm>
          <a:prstGeom prst="rect">
            <a:avLst/>
          </a:prstGeom>
          <a:solidFill>
            <a:srgbClr val="F0F9FB"/>
          </a:solidFill>
          <a:ln w="12700">
            <a:solidFill>
              <a:srgbClr val="F0F9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" y="444398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reg_alpha / lambda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606040" y="44439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1e-4 – 10.0 (log)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1920240"/>
            <a:ext cx="201168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46320" y="208483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3800" dirty="0"/>
          </a:p>
        </p:txBody>
      </p:sp>
      <p:sp>
        <p:nvSpPr>
          <p:cNvPr id="31" name="Text 29"/>
          <p:cNvSpPr/>
          <p:nvPr/>
        </p:nvSpPr>
        <p:spPr>
          <a:xfrm>
            <a:off x="4846320" y="27432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Trials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040880" y="1920240"/>
            <a:ext cx="201168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040880" y="208483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1,500s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7040880" y="27432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Timeout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846320" y="3429000"/>
            <a:ext cx="420624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029200" y="35661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Gap-Penalised Objective rewards generalisation — not just memorisation.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29200" y="41605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gap: 0.1204 → 0.0632  (−47%)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Results — Tuned LightGBM v2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55448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554480" cy="10972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0.7710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+0.0031 vs v1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57984" y="1005840"/>
            <a:ext cx="155448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157984" y="1005840"/>
            <a:ext cx="1554480" cy="109728"/>
          </a:xfrm>
          <a:prstGeom prst="rect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57984" y="11887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0.2592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157984" y="18288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57984" y="21031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+0.0039 vs v1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58768" y="1005840"/>
            <a:ext cx="155448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58768" y="1005840"/>
            <a:ext cx="1554480" cy="109728"/>
          </a:xfrm>
          <a:prstGeom prst="rect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58768" y="11887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0.3199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858768" y="18288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58768" y="21031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+0.0288 vs v1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559552" y="1005840"/>
            <a:ext cx="155448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559552" y="1005840"/>
            <a:ext cx="1554480" cy="109728"/>
          </a:xfrm>
          <a:prstGeom prst="rect">
            <a:avLst/>
          </a:prstGeom>
          <a:solidFill>
            <a:srgbClr val="3B5FA0"/>
          </a:solidFill>
          <a:ln w="12700">
            <a:solidFill>
              <a:srgbClr val="3B5F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59552" y="11887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B5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0.2575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5559552" y="18288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59552" y="21031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+0.0681 vs v1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260336" y="1005840"/>
            <a:ext cx="155448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60336" y="1005840"/>
            <a:ext cx="1554480" cy="109728"/>
          </a:xfrm>
          <a:prstGeom prst="rect">
            <a:avLst/>
          </a:prstGeom>
          <a:solidFill>
            <a:srgbClr val="3B4E8C"/>
          </a:solidFill>
          <a:ln w="12700">
            <a:solidFill>
              <a:srgbClr val="3B4E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60336" y="11887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B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0.665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7260336" y="18288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60336" y="21031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F1-optimal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2606040"/>
            <a:ext cx="8229600" cy="21031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0080" y="270662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Comparison</a:t>
            </a:r>
            <a:endParaRPr lang="en-US" sz="13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90672"/>
          <a:ext cx="8046717" cy="1627632"/>
        </p:xfrm>
        <a:graphic>
          <a:graphicData uri="http://schemas.openxmlformats.org/drawingml/2006/table">
            <a:tbl>
              <a:tblPr/>
              <a:tblGrid>
                <a:gridCol w="11495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95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95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95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95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95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95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93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93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93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93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93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93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93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 v1 (untuned)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 v2 (baseline)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 v2 (tuned)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93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93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93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93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93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2" name="Text 29"/>
          <p:cNvSpPr/>
          <p:nvPr/>
        </p:nvSpPr>
        <p:spPr>
          <a:xfrm>
            <a:off x="548640" y="47731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Benchmark: Will Koehrsen single-table baseline = 0.7526  |  This model: 0.7710  (+0.0184)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— CreditIQ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822960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02920" cy="65836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1064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399032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statistics, class distribution, dropped column summary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19656"/>
            <a:ext cx="822960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819656"/>
            <a:ext cx="502920" cy="65836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1965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18745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167128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distributions, missing value heatmap, correlation matrix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587752"/>
            <a:ext cx="822960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587752"/>
            <a:ext cx="502920" cy="65836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8775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🏆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26426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2935224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AUC, F1, confusion matrices, threshold analysis for all 4 models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355848"/>
            <a:ext cx="822960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355848"/>
            <a:ext cx="502920" cy="65836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35584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34107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3703320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Top-N importance chart, cumulative coverage by threshold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123944"/>
            <a:ext cx="822960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123944"/>
            <a:ext cx="502920" cy="65836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12394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97280" y="41788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4471416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default probability with gauge chart and risk tier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4114800" cy="3749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155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Limitations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819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table only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8196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Supplementary tables not joined (expected +0.03 AUC)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0939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OOT validation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split used; production needs date-based split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on test set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8437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optimistic bias from test-set threshold selection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1181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3558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 default rate limits recall despite scale_pos_weight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6301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model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8679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environments may need a scorecard model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1422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3799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Gender/education features — fairness audit required before deployment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005840"/>
            <a:ext cx="3931920" cy="3749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37760" y="11155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What's Next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937760" y="1618488"/>
            <a:ext cx="329184" cy="329184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618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94960" y="15819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supplementary tables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94960" y="18562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bureau.csv alone expected to push AUC &gt; 0.79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37760" y="2258568"/>
            <a:ext cx="329184" cy="329184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2258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94960" y="22219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Out-of-time validation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94960" y="24963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by DAYS_DECISION for production simulation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37760" y="2898648"/>
            <a:ext cx="329184" cy="329184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2898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94960" y="28620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audit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94960" y="31363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parity &amp; equalised odds across subgroups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37760" y="3538728"/>
            <a:ext cx="329184" cy="329184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3538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94960" y="35021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explanations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94960" y="37764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prediction explainability in the dashboard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937760" y="4178808"/>
            <a:ext cx="329184" cy="329184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4178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94960" y="41422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retraining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94960" y="44165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on PSI-based distribution drift monitoring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743200"/>
            <a:ext cx="4114800" cy="411480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02920"/>
            <a:ext cx="6400800" cy="566928"/>
          </a:xfrm>
          <a:prstGeom prst="rect">
            <a:avLst/>
          </a:prstGeom>
          <a:solidFill>
            <a:srgbClr val="F4F9FB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>
              <a:solidFill>
                <a:srgbClr val="0A9396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11480" y="1207008"/>
            <a:ext cx="109728" cy="3474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0700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Tuned LightGBM v2 achieves AUC 0.7710  —  surpassing the single-table baseline of 0.7526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865376"/>
            <a:ext cx="109728" cy="3474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65376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Feature set reduced from 153 → 29 with no meaningful performance loss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523744"/>
            <a:ext cx="109728" cy="3474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523744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Gap-penalised Optuna objective cut overfitting gap from 0.1204 to 0.0632 (−47%)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3182112"/>
            <a:ext cx="109728" cy="3474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18211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Full leak-proof sklearn Pipeline ready for production serialization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3840480"/>
            <a:ext cx="109728" cy="3474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84048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Streamlit dashboard covers EDA, comparison, and live inference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4644743"/>
            <a:ext cx="3259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https://github.com/Niqar/Credit-risk-prediction</a:t>
            </a:r>
            <a:endParaRPr lang="en-US" sz="1100" i="1" dirty="0">
              <a:solidFill>
                <a:srgbClr val="94D2B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>
                <a:hlinkClick r:id="rId4"/>
              </a:rPr>
              <a:t>https://credit-risk-prediction-better.streamlit.app/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15A668-BFDC-48F6-AC5D-30D9B7048548}"/>
              </a:ext>
            </a:extLst>
          </p:cNvPr>
          <p:cNvSpPr txBox="1"/>
          <p:nvPr/>
        </p:nvSpPr>
        <p:spPr>
          <a:xfrm>
            <a:off x="6812280" y="3694997"/>
            <a:ext cx="19202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THANK YOU</a:t>
            </a: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 FOR </a:t>
            </a: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942</Words>
  <Application>Microsoft Office PowerPoint</Application>
  <PresentationFormat>On-screen Show (16:9)</PresentationFormat>
  <Paragraphs>251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Risk Prediction</dc:title>
  <dc:subject>PptxGenJS Presentation</dc:subject>
  <dc:creator>PptxGenJS</dc:creator>
  <cp:lastModifiedBy>Nigar Abdullazade</cp:lastModifiedBy>
  <cp:revision>7</cp:revision>
  <dcterms:created xsi:type="dcterms:W3CDTF">2026-05-15T18:40:55Z</dcterms:created>
  <dcterms:modified xsi:type="dcterms:W3CDTF">2026-05-16T05:00:12Z</dcterms:modified>
</cp:coreProperties>
</file>