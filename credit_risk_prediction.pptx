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D1B2A"/>
                </a:solidFill>
                <a:latin typeface="Arial"/>
              </a:rPr>
              <a:t>ROC-AUC by Model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AUC</c:v>
                </c:pt>
              </c:strCache>
            </c:strRef>
          </c:tx>
          <c:spPr>
            <a:solidFill>
              <a:srgbClr val="94D2B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94F-43CE-9A2D-8F59528C5A76}"/>
              </c:ext>
            </c:extLst>
          </c:dPt>
          <c:dPt>
            <c:idx val="1"/>
            <c:invertIfNegative val="0"/>
            <c:bubble3D val="0"/>
            <c:spPr>
              <a:solidFill>
                <a:srgbClr val="0A93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94F-43CE-9A2D-8F59528C5A76}"/>
              </c:ext>
            </c:extLst>
          </c:dPt>
          <c:dPt>
            <c:idx val="2"/>
            <c:invertIfNegative val="0"/>
            <c:bubble3D val="0"/>
            <c:spPr>
              <a:solidFill>
                <a:srgbClr val="1D7A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94F-43CE-9A2D-8F59528C5A76}"/>
              </c:ext>
            </c:extLst>
          </c:dPt>
          <c:dPt>
            <c:idx val="3"/>
            <c:invertIfNegative val="0"/>
            <c:bubble3D val="0"/>
            <c:spPr>
              <a:solidFill>
                <a:srgbClr val="0D1B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94F-43CE-9A2D-8F59528C5A76}"/>
              </c:ext>
            </c:extLst>
          </c:dPt>
          <c:dLbls>
            <c:delete val="1"/>
          </c:dLbls>
          <c:cat>
            <c:strRef>
              <c:f>Sheet1!$A$2:$A$5</c:f>
              <c:strCache>
                <c:ptCount val="4"/>
                <c:pt idx="0">
                  <c:v>Logistic
Regression</c:v>
                </c:pt>
                <c:pt idx="1">
                  <c:v>Random
Forest</c:v>
                </c:pt>
                <c:pt idx="2">
                  <c:v>XGBoost</c:v>
                </c:pt>
                <c:pt idx="3">
                  <c:v>LightGBM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0.71909999999999996</c:v>
                </c:pt>
                <c:pt idx="1">
                  <c:v>0.73119999999999996</c:v>
                </c:pt>
                <c:pt idx="2">
                  <c:v>0.75409999999999999</c:v>
                </c:pt>
                <c:pt idx="3">
                  <c:v>0.76790000000000003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94F-43CE-9A2D-8F59528C5A7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6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245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qar/Credit-risk-prediction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dit-risk-prediction-better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731520"/>
            <a:ext cx="3474720" cy="347472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-182880"/>
            <a:ext cx="2377440" cy="2377440"/>
          </a:xfrm>
          <a:prstGeom prst="ellipse">
            <a:avLst/>
          </a:prstGeom>
          <a:solidFill>
            <a:srgbClr val="0A9396">
              <a:alpha val="30000"/>
            </a:srgbClr>
          </a:solidFill>
          <a:ln w="12700">
            <a:solidFill>
              <a:srgbClr val="0A9396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058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11480" y="2788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Pipeline for Loan Default Detection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3429000"/>
            <a:ext cx="3200400" cy="38404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429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Credit Default Risk  |  Kaggle Dataset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72768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Credit serves borrowers with little or no credit history — underserved by traditional banks.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bad loan is costly. Rejecting a good applicant loses a customer.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well-calibrated default probability model enables smarter decisions at the application stage.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20700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307K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754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100584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120700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94944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8036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30815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8.07%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75488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288036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30815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94944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Features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6-Step ML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261872"/>
            <a:ext cx="475488" cy="475488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261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07008" y="12801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Audit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" y="1847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columns dropped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documented reasons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56432" y="1261872"/>
            <a:ext cx="475488" cy="475488"/>
          </a:xfrm>
          <a:prstGeom prst="ellipse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1261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41648" y="12801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imbalance, missing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values, multicollinearity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91072" y="1261872"/>
            <a:ext cx="475488" cy="475488"/>
          </a:xfrm>
          <a:prstGeom prst="ellipse">
            <a:avLst/>
          </a:prstGeom>
          <a:solidFill>
            <a:srgbClr val="2E6E8E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1072" y="1261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76288" y="12801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91072" y="1847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Ratios, cyclical encoding,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 score interactions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" y="3044952"/>
            <a:ext cx="475488" cy="475488"/>
          </a:xfrm>
          <a:prstGeom prst="ellipse">
            <a:avLst/>
          </a:prstGeom>
          <a:solidFill>
            <a:srgbClr val="3B5FA0"/>
          </a:solidFill>
          <a:ln w="12700">
            <a:solidFill>
              <a:srgbClr val="3B5F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044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07008" y="30632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" y="36301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 → 29 features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performance loss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88036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56432" y="3044952"/>
            <a:ext cx="475488" cy="475488"/>
          </a:xfrm>
          <a:prstGeom prst="ellipse">
            <a:avLst/>
          </a:prstGeom>
          <a:solidFill>
            <a:srgbClr val="3B4E8C"/>
          </a:solidFill>
          <a:ln w="12700">
            <a:solidFill>
              <a:srgbClr val="3B4E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56432" y="3044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041648" y="30632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6301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sklearn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91072" y="3044952"/>
            <a:ext cx="475488" cy="475488"/>
          </a:xfrm>
          <a:prstGeom prst="ellipse">
            <a:avLst/>
          </a:prstGeom>
          <a:solidFill>
            <a:srgbClr val="2D3A6E"/>
          </a:solidFill>
          <a:ln w="12700">
            <a:solidFill>
              <a:srgbClr val="2D3A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91072" y="3044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876288" y="30632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 Tuning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91072" y="36301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benchmarked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hyperparameter tuning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Scikit-learn Transformers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FeatureEngineer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1380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11 derived features — financial ratios, cyclical hour encoding, ext_source interactions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51560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47488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InvalidValueCleaner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47488" y="1380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XNA, Unknown, None and similar placeholders with NaN for proper imputation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19656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819656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DtypeFixer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2148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non-negative all-integer floats (e.g. 1.0, 2.0) to nullable Int64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1819656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819656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7488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MissingIndicator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47488" y="2148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_missing flag columns only where missingness correlates with default (chi² p &lt; 0.05)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87752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587752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42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CorrelatedFeatureDropper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2916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one feature from each pair with |Pearson corr| ≥ 0.8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587752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587752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2642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RareCategoryMerger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47488" y="2916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rare categories (&lt; 4%) with below-average default rate into 'other'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355848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355848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4107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OutlierCapper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" y="3685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numeric values to the [1%, 99%] quantile range to limit extreme outlier influence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3355848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3355848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7488" y="34107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Log1pTransformer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47488" y="3685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log(1+x) to non-negative skewed features (|skewness| ≥ 1)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123944"/>
            <a:ext cx="822960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00" y="4123944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41788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Top90PercentImportanceSelector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58368" y="44531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LightGBM internally; keeps features covering top 90% cumulative importance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1556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 Created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17904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credit_income_ratio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1554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amt_credit / amt_income_total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892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annuity_income_ratio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34640" y="18928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amt_annuity / amt_income_total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311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credit_duration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34640" y="22311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amt_credit / amt_annuity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32888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5694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age_years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34640" y="25694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days_birth / -365.25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871216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9077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employed_years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2907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days_employed / -365.25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209544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2461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employed_to_age_ratio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34640" y="32461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employed_years / age_years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547872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844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sin_hour / cos_hour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346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Cyclical encoding of application hour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886200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9227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ext_mean / ext_std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34640" y="39227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&amp; std of ext_source_1, 2,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4224528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ext_prod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42611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ext_source_1 × ext_source_2 × ext_source_3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0" y="1005840"/>
            <a:ext cx="301752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852160" y="1115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Reduction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852160" y="1600200"/>
            <a:ext cx="2377440" cy="29260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52160" y="19110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Info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955280" y="19110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52160" y="2221992"/>
            <a:ext cx="1011677" cy="29260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25328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Flags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55280" y="2532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852160" y="2843784"/>
            <a:ext cx="303503" cy="292608"/>
          </a:xfrm>
          <a:prstGeom prst="rect">
            <a:avLst/>
          </a:prstGeom>
          <a:solidFill>
            <a:srgbClr val="2E6E8E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52160" y="31546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955280" y="3154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852160" y="3465576"/>
            <a:ext cx="151751" cy="292608"/>
          </a:xfrm>
          <a:prstGeom prst="rect">
            <a:avLst/>
          </a:prstGeom>
          <a:solidFill>
            <a:srgbClr val="3B5FA0"/>
          </a:solidFill>
          <a:ln w="12700">
            <a:solidFill>
              <a:srgbClr val="3B5F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52160" y="37764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Flags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55280" y="37764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B5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52160" y="4087368"/>
            <a:ext cx="202335" cy="292608"/>
          </a:xfrm>
          <a:prstGeom prst="rect">
            <a:avLst/>
          </a:prstGeom>
          <a:solidFill>
            <a:srgbClr val="3B4E8C"/>
          </a:solidFill>
          <a:ln w="12700">
            <a:solidFill>
              <a:srgbClr val="3B4E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52160" y="439826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955280" y="439826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B4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Benchmarking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925018330"/>
              </p:ext>
            </p:extLst>
          </p:nvPr>
        </p:nvGraphicFramePr>
        <p:xfrm>
          <a:off x="457200" y="1005840"/>
          <a:ext cx="50292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005840"/>
            <a:ext cx="3017520" cy="32918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852160" y="11155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Compared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0" y="1517904"/>
            <a:ext cx="2926080" cy="38404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06440" y="1554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76656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3524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15000" y="1947672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984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76656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3524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715000" y="2377440"/>
            <a:ext cx="2926080" cy="384048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24140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4140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0.2437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635240" y="24140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0.2553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715000" y="2807208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06440" y="2843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66560" y="2843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35240" y="2843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0.2911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15000" y="3236976"/>
            <a:ext cx="2926080" cy="384048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06440" y="3273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766560" y="32735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635240" y="32735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0.1894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15000" y="3666744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06440" y="3703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766560" y="3703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635240" y="3703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0.6290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71500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LightGBM selected for tuning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 — Optuna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EBF8FA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704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=  mean_val_AUC  −  GAP_PENALTY × mean(train_AUC − val_AUC)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206240" cy="28346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4688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06040" y="2468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– 2,000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61488"/>
            <a:ext cx="40233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7980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06040" y="2798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 – 0.10 (log)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090672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1272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06040" y="3127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63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40233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4564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06040" y="3456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7856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min_child_samples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37856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– 500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78224"/>
            <a:ext cx="40233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4114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606040" y="4114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– 1.0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407408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44439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 / lambda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606040" y="44439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1e-4 – 10.0 (log)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1920240"/>
            <a:ext cx="201168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20848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4846320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Trials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040880" y="1920240"/>
            <a:ext cx="201168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40880" y="20848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1,500s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7040880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Timeout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46320" y="3429000"/>
            <a:ext cx="420624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29200" y="35661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Gap-Penalised Objective rewards generalisation — not just memorisation.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0" y="41605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gap: 0.1204 → 0.0632  (−47%)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 — Tuned LightGBM v2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554480" cy="10972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0.7710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+0.0031 vs v1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57984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57984" y="1005840"/>
            <a:ext cx="1554480" cy="10972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7984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0.2592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157984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57984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+0.0039 vs v1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58768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58768" y="1005840"/>
            <a:ext cx="1554480" cy="109728"/>
          </a:xfrm>
          <a:prstGeom prst="rect">
            <a:avLst/>
          </a:prstGeom>
          <a:solidFill>
            <a:srgbClr val="2E6E8E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58768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0.3199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858768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58768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+0.0288 vs v1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59552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559552" y="1005840"/>
            <a:ext cx="1554480" cy="109728"/>
          </a:xfrm>
          <a:prstGeom prst="rect">
            <a:avLst/>
          </a:prstGeom>
          <a:solidFill>
            <a:srgbClr val="3B5FA0"/>
          </a:solidFill>
          <a:ln w="12700">
            <a:solidFill>
              <a:srgbClr val="3B5F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9552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5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0.2575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559552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59552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+0.0681 vs v1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60336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260336" y="1005840"/>
            <a:ext cx="1554480" cy="109728"/>
          </a:xfrm>
          <a:prstGeom prst="rect">
            <a:avLst/>
          </a:prstGeom>
          <a:solidFill>
            <a:srgbClr val="3B4E8C"/>
          </a:solidFill>
          <a:ln w="12700">
            <a:solidFill>
              <a:srgbClr val="3B4E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0336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4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0.665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260336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60336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F1-optimal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606040"/>
            <a:ext cx="822960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" y="270662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Comparison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90672"/>
          <a:ext cx="8046717" cy="1627632"/>
        </p:xfrm>
        <a:graphic>
          <a:graphicData uri="http://schemas.openxmlformats.org/drawingml/2006/table">
            <a:tbl>
              <a:tblPr/>
              <a:tblGrid>
                <a:gridCol w="11495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v1 (untuned)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v2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v2 (tuned)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Will Koehrsen single-table baseline = 0.7526  |  This model: 0.7710  (+0.0184)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CreditIQ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106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399032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statistics, class distribution, dropped column summary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19656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19656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1965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18745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67128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distributions, missing value heatmap, correlation matrix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587752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587752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877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🏆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264261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2935224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F1, confusion matrices, threshold analysis for all 4 models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55848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55848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5584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4107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7033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importance chart, cumulative coverage by threshold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123944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23944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12394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97280" y="41788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" y="447141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default probability with gauge chart and risk tier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15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Limitations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819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table only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196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Supplementary tables not joined (expected +0.03 AUC)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0939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OOT validation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 used; production needs date-based split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on test 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843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optimistic bias from test-set threshold selection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181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3558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default rate limits recall despite scale_pos_weight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630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model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86791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environments may need a scorecard model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4142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3799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Gender/education features — fairness audit required before deployment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393192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1155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What's Next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161848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158191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supplementary tables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18562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bureau.csv alone expected to push AUC &gt; 0.79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225856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94960" y="22219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Out-of-time validation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94960" y="249631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DAYS_DECISION for production simulation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89864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28620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94960" y="31363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parity &amp; equalised odds across subgroups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37760" y="353872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35021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explanations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94960" y="37764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prediction explainability in the dashboard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0" y="417880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394960" y="41422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retraining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94960" y="44165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on PSI-based distribution drift monitoring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2743200"/>
            <a:ext cx="4114800" cy="411480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50292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" y="1207008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0700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LightGBM v2 achieves AUC 0.7710  —  surpassing the single-table baseline of 0.7526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865376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65376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set reduced from 153 → 29 with no meaningful performance loss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523744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2374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Gap-penalised Optuna objective cut overfitting gap from 0.1204 to 0.0632 (−47%)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3182112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18211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leak-proof sklearn Pipeline ready for production serialization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840480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4048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Streamlit dashboard covers EDA, comparison, and live inference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44743"/>
            <a:ext cx="325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https://github.com/Niqar/Credit-risk-prediction</a:t>
            </a:r>
            <a:endParaRPr lang="en-US" sz="1100" i="1" dirty="0">
              <a:solidFill>
                <a:srgbClr val="94D2B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>
                <a:hlinkClick r:id="rId4"/>
              </a:rPr>
              <a:t>https://credit-risk-prediction-better.streamlit.app/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936</Words>
  <Application>Microsoft Office PowerPoint</Application>
  <PresentationFormat>On-screen Show (16:9)</PresentationFormat>
  <Paragraphs>248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Risk Prediction</dc:title>
  <dc:subject>PptxGenJS Presentation</dc:subject>
  <dc:creator>PptxGenJS</dc:creator>
  <cp:lastModifiedBy>Nigar Abdullazade</cp:lastModifiedBy>
  <cp:revision>5</cp:revision>
  <dcterms:created xsi:type="dcterms:W3CDTF">2026-05-15T18:40:55Z</dcterms:created>
  <dcterms:modified xsi:type="dcterms:W3CDTF">2026-05-16T00:11:25Z</dcterms:modified>
</cp:coreProperties>
</file>