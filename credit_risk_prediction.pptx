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charts/chart1.xml" ContentType="application/vnd.openxmlformats-officedocument.drawingml.chart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12" d="100"/>
          <a:sy n="112" d="100"/>
        </p:scale>
        <p:origin x="610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0D1B2A"/>
                </a:solidFill>
                <a:latin typeface="Arial"/>
              </a:defRPr>
            </a:pPr>
            <a:r>
              <a:rPr lang="en-US" sz="1300" b="0" i="0" u="none" strike="noStrike">
                <a:solidFill>
                  <a:srgbClr val="0D1B2A"/>
                </a:solidFill>
                <a:latin typeface="Arial"/>
              </a:rPr>
              <a:t>ROC-AUC by Model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Test AUC</c:v>
                </c:pt>
              </c:strCache>
            </c:strRef>
          </c:tx>
          <c:spPr>
            <a:solidFill>
              <a:srgbClr val="94D2BD"/>
            </a:solidFill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94D2BD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294F-43CE-9A2D-8F59528C5A76}"/>
              </c:ext>
            </c:extLst>
          </c:dPt>
          <c:dPt>
            <c:idx val="1"/>
            <c:invertIfNegative val="0"/>
            <c:bubble3D val="0"/>
            <c:spPr>
              <a:solidFill>
                <a:srgbClr val="0A9396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294F-43CE-9A2D-8F59528C5A76}"/>
              </c:ext>
            </c:extLst>
          </c:dPt>
          <c:dPt>
            <c:idx val="2"/>
            <c:invertIfNegative val="0"/>
            <c:bubble3D val="0"/>
            <c:spPr>
              <a:solidFill>
                <a:srgbClr val="1D7A8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294F-43CE-9A2D-8F59528C5A76}"/>
              </c:ext>
            </c:extLst>
          </c:dPt>
          <c:dPt>
            <c:idx val="3"/>
            <c:invertIfNegative val="0"/>
            <c:bubble3D val="0"/>
            <c:spPr>
              <a:solidFill>
                <a:srgbClr val="0D1B2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294F-43CE-9A2D-8F59528C5A76}"/>
              </c:ext>
            </c:extLst>
          </c:dPt>
          <c:dLbls>
            <c:delete val="1"/>
          </c:dLbls>
          <c:cat>
            <c:strRef>
              <c:f>Sheet1!$A$2:$A$5</c:f>
              <c:strCache>
                <c:ptCount val="4"/>
                <c:pt idx="0">
                  <c:v>Logistic
Regression</c:v>
                </c:pt>
                <c:pt idx="1">
                  <c:v>Random
Forest</c:v>
                </c:pt>
                <c:pt idx="2">
                  <c:v>XGBoost</c:v>
                </c:pt>
                <c:pt idx="3">
                  <c:v>LightGBM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0.71909999999999996</c:v>
                </c:pt>
                <c:pt idx="1">
                  <c:v>0.73119999999999996</c:v>
                </c:pt>
                <c:pt idx="2">
                  <c:v>0.75409999999999999</c:v>
                </c:pt>
                <c:pt idx="3">
                  <c:v>0.76790000000000003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294F-43CE-9A2D-8F59528C5A76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0.8"/>
          <c:min val="0.68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262456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A9396"/>
          </a:solidFill>
          <a:ln w="12700">
            <a:solidFill>
              <a:srgbClr val="0A939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83680" y="-731520"/>
            <a:ext cx="3474720" cy="3474720"/>
          </a:xfrm>
          <a:prstGeom prst="ellipse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132320" y="-182880"/>
            <a:ext cx="2377440" cy="2377440"/>
          </a:xfrm>
          <a:prstGeom prst="ellipse">
            <a:avLst/>
          </a:prstGeom>
          <a:solidFill>
            <a:srgbClr val="0A9396">
              <a:alpha val="30000"/>
            </a:srgbClr>
          </a:solidFill>
          <a:ln w="12700">
            <a:solidFill>
              <a:srgbClr val="0A9396">
                <a:alpha val="30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1005840"/>
            <a:ext cx="5943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 Risk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411480" y="1783080"/>
            <a:ext cx="5943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94D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Prediction</a:t>
            </a:r>
            <a:endParaRPr lang="en-US" sz="4800" dirty="0"/>
          </a:p>
        </p:txBody>
      </p:sp>
      <p:sp>
        <p:nvSpPr>
          <p:cNvPr id="7" name="Text 5"/>
          <p:cNvSpPr/>
          <p:nvPr/>
        </p:nvSpPr>
        <p:spPr>
          <a:xfrm>
            <a:off x="411480" y="2788920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A8C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Machine Learning Pipeline for Loan Default Detection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11480" y="3429000"/>
            <a:ext cx="3200400" cy="384048"/>
          </a:xfrm>
          <a:prstGeom prst="rect">
            <a:avLst/>
          </a:prstGeom>
          <a:solidFill>
            <a:srgbClr val="0A9396"/>
          </a:solidFill>
          <a:ln w="12700">
            <a:solidFill>
              <a:srgbClr val="0A939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11480" y="3429000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 Credit Default Risk  |  Kaggle Dataset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&amp; Dataset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41248"/>
            <a:ext cx="8229600" cy="27432"/>
          </a:xfrm>
          <a:prstGeom prst="rect">
            <a:avLst/>
          </a:prstGeom>
          <a:solidFill>
            <a:srgbClr val="0A9396"/>
          </a:solidFill>
          <a:ln w="12700">
            <a:solidFill>
              <a:srgbClr val="0A939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05840"/>
            <a:ext cx="4114800" cy="3566160"/>
          </a:xfrm>
          <a:prstGeom prst="rect">
            <a:avLst/>
          </a:prstGeom>
          <a:solidFill>
            <a:srgbClr val="FFFFFF"/>
          </a:solidFill>
          <a:ln w="10160">
            <a:solidFill>
              <a:srgbClr val="E2EEF4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143000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A93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Context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40080" y="1572768"/>
            <a:ext cx="374904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 Credit serves borrowers with little or no credit history — underserved by traditional banks.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Approving a bad loan is costly. Rejecting a good applicant loses a customer.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well-calibrated default probability model enables smarter decisions at the application stage.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754880" y="1005840"/>
            <a:ext cx="2011680" cy="1554480"/>
          </a:xfrm>
          <a:prstGeom prst="rect">
            <a:avLst/>
          </a:prstGeom>
          <a:solidFill>
            <a:srgbClr val="FFFFFF"/>
          </a:solidFill>
          <a:ln w="10160">
            <a:solidFill>
              <a:srgbClr val="E2EEF4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754880" y="1207008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0A93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307K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4754880" y="201168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Applicants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949440" y="1005840"/>
            <a:ext cx="2011680" cy="1554480"/>
          </a:xfrm>
          <a:prstGeom prst="rect">
            <a:avLst/>
          </a:prstGeom>
          <a:solidFill>
            <a:srgbClr val="FFFFFF"/>
          </a:solidFill>
          <a:ln w="10160">
            <a:solidFill>
              <a:srgbClr val="E2EEF4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949440" y="1207008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0A93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122</a:t>
            </a:r>
            <a:endParaRPr lang="en-US" sz="3200" dirty="0"/>
          </a:p>
        </p:txBody>
      </p:sp>
      <p:sp>
        <p:nvSpPr>
          <p:cNvPr id="12" name="Text 10"/>
          <p:cNvSpPr/>
          <p:nvPr/>
        </p:nvSpPr>
        <p:spPr>
          <a:xfrm>
            <a:off x="6949440" y="201168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Features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754880" y="2880360"/>
            <a:ext cx="2011680" cy="1554480"/>
          </a:xfrm>
          <a:prstGeom prst="rect">
            <a:avLst/>
          </a:prstGeom>
          <a:solidFill>
            <a:srgbClr val="FFFFFF"/>
          </a:solidFill>
          <a:ln w="10160">
            <a:solidFill>
              <a:srgbClr val="E2EEF4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754880" y="3081528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0A93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8.07%</a:t>
            </a:r>
            <a:endParaRPr lang="en-US" sz="3200" dirty="0"/>
          </a:p>
        </p:txBody>
      </p:sp>
      <p:sp>
        <p:nvSpPr>
          <p:cNvPr id="15" name="Text 13"/>
          <p:cNvSpPr/>
          <p:nvPr/>
        </p:nvSpPr>
        <p:spPr>
          <a:xfrm>
            <a:off x="4754880" y="38862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Default Rate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949440" y="2880360"/>
            <a:ext cx="2011680" cy="1554480"/>
          </a:xfrm>
          <a:prstGeom prst="rect">
            <a:avLst/>
          </a:prstGeom>
          <a:solidFill>
            <a:srgbClr val="FFFFFF"/>
          </a:solidFill>
          <a:ln w="10160">
            <a:solidFill>
              <a:srgbClr val="E2EEF4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949440" y="3081528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0A93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3200" dirty="0"/>
          </a:p>
        </p:txBody>
      </p:sp>
      <p:sp>
        <p:nvSpPr>
          <p:cNvPr id="18" name="Text 16"/>
          <p:cNvSpPr/>
          <p:nvPr/>
        </p:nvSpPr>
        <p:spPr>
          <a:xfrm>
            <a:off x="6949440" y="38862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Features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6-Step ML Workflow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41248"/>
            <a:ext cx="8229600" cy="27432"/>
          </a:xfrm>
          <a:prstGeom prst="rect">
            <a:avLst/>
          </a:prstGeom>
          <a:solidFill>
            <a:srgbClr val="0A9396"/>
          </a:solidFill>
          <a:ln w="12700">
            <a:solidFill>
              <a:srgbClr val="0A939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97280"/>
            <a:ext cx="2560320" cy="1554480"/>
          </a:xfrm>
          <a:prstGeom prst="rect">
            <a:avLst/>
          </a:prstGeom>
          <a:solidFill>
            <a:srgbClr val="FFFFFF"/>
          </a:solidFill>
          <a:ln w="10160">
            <a:solidFill>
              <a:srgbClr val="E2EEF4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21792" y="1261872"/>
            <a:ext cx="475488" cy="475488"/>
          </a:xfrm>
          <a:prstGeom prst="ellipse">
            <a:avLst/>
          </a:prstGeom>
          <a:solidFill>
            <a:srgbClr val="0A9396"/>
          </a:solidFill>
          <a:ln w="12700">
            <a:solidFill>
              <a:srgbClr val="0A939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21792" y="126187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207008" y="1280160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Column Audit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21792" y="1847088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80+ columns dropped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documented reasons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91840" y="1097280"/>
            <a:ext cx="2560320" cy="1554480"/>
          </a:xfrm>
          <a:prstGeom prst="rect">
            <a:avLst/>
          </a:prstGeom>
          <a:solidFill>
            <a:srgbClr val="FFFFFF"/>
          </a:solidFill>
          <a:ln w="10160">
            <a:solidFill>
              <a:srgbClr val="E2EEF4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456432" y="1261872"/>
            <a:ext cx="475488" cy="475488"/>
          </a:xfrm>
          <a:prstGeom prst="ellipse">
            <a:avLst/>
          </a:prstGeom>
          <a:solidFill>
            <a:srgbClr val="1D7A8C"/>
          </a:solidFill>
          <a:ln w="12700">
            <a:solidFill>
              <a:srgbClr val="1D7A8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456432" y="126187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041648" y="1280160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EDA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456432" y="1847088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imbalance, missing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values, multicollinearity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126480" y="1097280"/>
            <a:ext cx="2560320" cy="1554480"/>
          </a:xfrm>
          <a:prstGeom prst="rect">
            <a:avLst/>
          </a:prstGeom>
          <a:solidFill>
            <a:srgbClr val="FFFFFF"/>
          </a:solidFill>
          <a:ln w="10160">
            <a:solidFill>
              <a:srgbClr val="E2EEF4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291072" y="1261872"/>
            <a:ext cx="475488" cy="475488"/>
          </a:xfrm>
          <a:prstGeom prst="ellipse">
            <a:avLst/>
          </a:prstGeom>
          <a:solidFill>
            <a:srgbClr val="2E6E8E"/>
          </a:solidFill>
          <a:ln w="12700">
            <a:solidFill>
              <a:srgbClr val="2E6E8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291072" y="126187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876288" y="1280160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Engineering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291072" y="1847088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Ratios, cyclical encoding,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 score interactions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57200" y="2880360"/>
            <a:ext cx="2560320" cy="1554480"/>
          </a:xfrm>
          <a:prstGeom prst="rect">
            <a:avLst/>
          </a:prstGeom>
          <a:solidFill>
            <a:srgbClr val="FFFFFF"/>
          </a:solidFill>
          <a:ln w="10160">
            <a:solidFill>
              <a:srgbClr val="E2EEF4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21792" y="3044952"/>
            <a:ext cx="475488" cy="475488"/>
          </a:xfrm>
          <a:prstGeom prst="ellipse">
            <a:avLst/>
          </a:prstGeom>
          <a:solidFill>
            <a:srgbClr val="3B5FA0"/>
          </a:solidFill>
          <a:ln w="12700">
            <a:solidFill>
              <a:srgbClr val="3B5FA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21792" y="304495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1207008" y="3063240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Selection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21792" y="3630168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153 → 29 features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performance loss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3291840" y="2880360"/>
            <a:ext cx="2560320" cy="1554480"/>
          </a:xfrm>
          <a:prstGeom prst="rect">
            <a:avLst/>
          </a:prstGeom>
          <a:solidFill>
            <a:srgbClr val="FFFFFF"/>
          </a:solidFill>
          <a:ln w="10160">
            <a:solidFill>
              <a:srgbClr val="E2EEF4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3456432" y="3044952"/>
            <a:ext cx="475488" cy="475488"/>
          </a:xfrm>
          <a:prstGeom prst="ellipse">
            <a:avLst/>
          </a:prstGeom>
          <a:solidFill>
            <a:srgbClr val="3B4E8C"/>
          </a:solidFill>
          <a:ln w="12700">
            <a:solidFill>
              <a:srgbClr val="3B4E8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456432" y="304495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4041648" y="3063240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3456432" y="3630168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Leak-proof sklearn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end-to-end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126480" y="2880360"/>
            <a:ext cx="2560320" cy="1554480"/>
          </a:xfrm>
          <a:prstGeom prst="rect">
            <a:avLst/>
          </a:prstGeom>
          <a:solidFill>
            <a:srgbClr val="FFFFFF"/>
          </a:solidFill>
          <a:ln w="10160">
            <a:solidFill>
              <a:srgbClr val="E2EEF4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291072" y="3044952"/>
            <a:ext cx="475488" cy="475488"/>
          </a:xfrm>
          <a:prstGeom prst="ellipse">
            <a:avLst/>
          </a:prstGeom>
          <a:solidFill>
            <a:srgbClr val="2D3A6E"/>
          </a:solidFill>
          <a:ln w="12700">
            <a:solidFill>
              <a:srgbClr val="2D3A6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291072" y="304495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6876288" y="3063240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&amp; Tuning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6291072" y="3630168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models benchmarked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Optuna hyperparameter tuning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Scikit-learn Transformers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41248"/>
            <a:ext cx="8229600" cy="27432"/>
          </a:xfrm>
          <a:prstGeom prst="rect">
            <a:avLst/>
          </a:prstGeom>
          <a:solidFill>
            <a:srgbClr val="0A9396"/>
          </a:solidFill>
          <a:ln w="12700">
            <a:solidFill>
              <a:srgbClr val="0A939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51560"/>
            <a:ext cx="4206240" cy="640080"/>
          </a:xfrm>
          <a:prstGeom prst="rect">
            <a:avLst/>
          </a:prstGeom>
          <a:solidFill>
            <a:srgbClr val="FFFFFF"/>
          </a:solidFill>
          <a:ln w="10160">
            <a:solidFill>
              <a:srgbClr val="E2EEF4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051560"/>
            <a:ext cx="91440" cy="640080"/>
          </a:xfrm>
          <a:prstGeom prst="rect">
            <a:avLst/>
          </a:prstGeom>
          <a:solidFill>
            <a:srgbClr val="0A9396"/>
          </a:solidFill>
          <a:ln w="12700">
            <a:solidFill>
              <a:srgbClr val="0A939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1106424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A93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FeatureEngineer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58368" y="1380744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Creates 11 derived features — financial ratios, cyclical hour encoding, ext_source interactions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846320" y="1051560"/>
            <a:ext cx="4206240" cy="640080"/>
          </a:xfrm>
          <a:prstGeom prst="rect">
            <a:avLst/>
          </a:prstGeom>
          <a:solidFill>
            <a:srgbClr val="FFFFFF"/>
          </a:solidFill>
          <a:ln w="10160">
            <a:solidFill>
              <a:srgbClr val="E2EEF4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846320" y="1051560"/>
            <a:ext cx="91440" cy="640080"/>
          </a:xfrm>
          <a:prstGeom prst="rect">
            <a:avLst/>
          </a:prstGeom>
          <a:solidFill>
            <a:srgbClr val="0A9396"/>
          </a:solidFill>
          <a:ln w="12700">
            <a:solidFill>
              <a:srgbClr val="0A939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47488" y="1106424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A93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InvalidValueCleaner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047488" y="1380744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Replaces XNA, Unknown, None and similar placeholders with NaN for proper imputation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57200" y="1819656"/>
            <a:ext cx="4206240" cy="640080"/>
          </a:xfrm>
          <a:prstGeom prst="rect">
            <a:avLst/>
          </a:prstGeom>
          <a:solidFill>
            <a:srgbClr val="FFFFFF"/>
          </a:solidFill>
          <a:ln w="10160">
            <a:solidFill>
              <a:srgbClr val="E2EEF4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57200" y="1819656"/>
            <a:ext cx="91440" cy="640080"/>
          </a:xfrm>
          <a:prstGeom prst="rect">
            <a:avLst/>
          </a:prstGeom>
          <a:solidFill>
            <a:srgbClr val="0A9396"/>
          </a:solidFill>
          <a:ln w="12700">
            <a:solidFill>
              <a:srgbClr val="0A939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58368" y="187452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A93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DtypeFixer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58368" y="2148840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Converts non-negative all-integer floats (e.g. 1.0, 2.0) to nullable Int64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846320" y="1819656"/>
            <a:ext cx="4206240" cy="640080"/>
          </a:xfrm>
          <a:prstGeom prst="rect">
            <a:avLst/>
          </a:prstGeom>
          <a:solidFill>
            <a:srgbClr val="FFFFFF"/>
          </a:solidFill>
          <a:ln w="10160">
            <a:solidFill>
              <a:srgbClr val="E2EEF4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846320" y="1819656"/>
            <a:ext cx="91440" cy="640080"/>
          </a:xfrm>
          <a:prstGeom prst="rect">
            <a:avLst/>
          </a:prstGeom>
          <a:solidFill>
            <a:srgbClr val="0A9396"/>
          </a:solidFill>
          <a:ln w="12700">
            <a:solidFill>
              <a:srgbClr val="0A939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047488" y="187452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A93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MissingIndicator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047488" y="2148840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Adds _missing flag columns only where missingness correlates with default (chi² p &lt; 0.05)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7200" y="2587752"/>
            <a:ext cx="4206240" cy="640080"/>
          </a:xfrm>
          <a:prstGeom prst="rect">
            <a:avLst/>
          </a:prstGeom>
          <a:solidFill>
            <a:srgbClr val="FFFFFF"/>
          </a:solidFill>
          <a:ln w="10160">
            <a:solidFill>
              <a:srgbClr val="E2EEF4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57200" y="2587752"/>
            <a:ext cx="91440" cy="640080"/>
          </a:xfrm>
          <a:prstGeom prst="rect">
            <a:avLst/>
          </a:prstGeom>
          <a:solidFill>
            <a:srgbClr val="0A9396"/>
          </a:solidFill>
          <a:ln w="12700">
            <a:solidFill>
              <a:srgbClr val="0A939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58368" y="2642616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A93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CorrelatedFeatureDropper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58368" y="2916936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Drops one feature from each pair with |Pearson corr| ≥ 0.8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846320" y="2587752"/>
            <a:ext cx="4206240" cy="640080"/>
          </a:xfrm>
          <a:prstGeom prst="rect">
            <a:avLst/>
          </a:prstGeom>
          <a:solidFill>
            <a:srgbClr val="FFFFFF"/>
          </a:solidFill>
          <a:ln w="10160">
            <a:solidFill>
              <a:srgbClr val="E2EEF4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846320" y="2587752"/>
            <a:ext cx="91440" cy="640080"/>
          </a:xfrm>
          <a:prstGeom prst="rect">
            <a:avLst/>
          </a:prstGeom>
          <a:solidFill>
            <a:srgbClr val="0A9396"/>
          </a:solidFill>
          <a:ln w="12700">
            <a:solidFill>
              <a:srgbClr val="0A939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047488" y="2642616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A93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RareCategoryMerger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5047488" y="2916936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Merges rare categories (&lt; 4%) with below-average default rate into 'other'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57200" y="3355848"/>
            <a:ext cx="4206240" cy="640080"/>
          </a:xfrm>
          <a:prstGeom prst="rect">
            <a:avLst/>
          </a:prstGeom>
          <a:solidFill>
            <a:srgbClr val="FFFFFF"/>
          </a:solidFill>
          <a:ln w="10160">
            <a:solidFill>
              <a:srgbClr val="E2EEF4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457200" y="3355848"/>
            <a:ext cx="91440" cy="640080"/>
          </a:xfrm>
          <a:prstGeom prst="rect">
            <a:avLst/>
          </a:prstGeom>
          <a:solidFill>
            <a:srgbClr val="0A9396"/>
          </a:solidFill>
          <a:ln w="12700">
            <a:solidFill>
              <a:srgbClr val="0A939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58368" y="3410712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A93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OutlierCapper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658368" y="3685032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Clips numeric values to the [1%, 99%] quantile range to limit extreme outlier influence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846320" y="3355848"/>
            <a:ext cx="4206240" cy="640080"/>
          </a:xfrm>
          <a:prstGeom prst="rect">
            <a:avLst/>
          </a:prstGeom>
          <a:solidFill>
            <a:srgbClr val="FFFFFF"/>
          </a:solidFill>
          <a:ln w="10160">
            <a:solidFill>
              <a:srgbClr val="E2EEF4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4846320" y="3355848"/>
            <a:ext cx="91440" cy="640080"/>
          </a:xfrm>
          <a:prstGeom prst="rect">
            <a:avLst/>
          </a:prstGeom>
          <a:solidFill>
            <a:srgbClr val="0A9396"/>
          </a:solidFill>
          <a:ln w="12700">
            <a:solidFill>
              <a:srgbClr val="0A9396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047488" y="3410712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A93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Log1pTransformer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5047488" y="3685032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Applies log(1+x) to non-negative skewed features (|skewness| ≥ 1)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457200" y="4123944"/>
            <a:ext cx="8229600" cy="640080"/>
          </a:xfrm>
          <a:prstGeom prst="rect">
            <a:avLst/>
          </a:prstGeom>
          <a:solidFill>
            <a:srgbClr val="FFFFFF"/>
          </a:solidFill>
          <a:ln w="10160">
            <a:solidFill>
              <a:srgbClr val="E2EEF4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457200" y="4123944"/>
            <a:ext cx="91440" cy="640080"/>
          </a:xfrm>
          <a:prstGeom prst="rect">
            <a:avLst/>
          </a:prstGeom>
          <a:solidFill>
            <a:srgbClr val="0A9396"/>
          </a:solidFill>
          <a:ln w="12700">
            <a:solidFill>
              <a:srgbClr val="0A9396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58368" y="4178808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A93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Top90PercentImportanceSelector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658368" y="4453128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Trains LightGBM internally; keeps features covering top 90% cumulative importance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Engineering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41248"/>
            <a:ext cx="8229600" cy="27432"/>
          </a:xfrm>
          <a:prstGeom prst="rect">
            <a:avLst/>
          </a:prstGeom>
          <a:solidFill>
            <a:srgbClr val="0A9396"/>
          </a:solidFill>
          <a:ln w="12700">
            <a:solidFill>
              <a:srgbClr val="0A939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05840"/>
            <a:ext cx="5029200" cy="3749040"/>
          </a:xfrm>
          <a:prstGeom prst="rect">
            <a:avLst/>
          </a:prstGeom>
          <a:solidFill>
            <a:srgbClr val="FFFFFF"/>
          </a:solidFill>
          <a:ln w="10160">
            <a:solidFill>
              <a:srgbClr val="E2EEF4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115568"/>
            <a:ext cx="4663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A93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Features Created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1517904"/>
            <a:ext cx="4846320" cy="320040"/>
          </a:xfrm>
          <a:prstGeom prst="rect">
            <a:avLst/>
          </a:prstGeom>
          <a:solidFill>
            <a:srgbClr val="F0F9FB"/>
          </a:solidFill>
          <a:ln w="12700">
            <a:solidFill>
              <a:srgbClr val="F0F9F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155448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A93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credit_income_ratio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2834640" y="1554480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amt_credit / amt_income_total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48640" y="1856232"/>
            <a:ext cx="484632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94360" y="1892808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A93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annuity_income_ratio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2834640" y="1892808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amt_annuity / amt_income_total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48640" y="2194560"/>
            <a:ext cx="4846320" cy="320040"/>
          </a:xfrm>
          <a:prstGeom prst="rect">
            <a:avLst/>
          </a:prstGeom>
          <a:solidFill>
            <a:srgbClr val="F0F9FB"/>
          </a:solidFill>
          <a:ln w="12700">
            <a:solidFill>
              <a:srgbClr val="F0F9F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94360" y="2231136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A93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credit_duration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2834640" y="2231136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amt_credit / amt_annuity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48640" y="2532888"/>
            <a:ext cx="484632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" y="2569464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A93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age_years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2834640" y="2569464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days_birth / -365.25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48640" y="2871216"/>
            <a:ext cx="4846320" cy="320040"/>
          </a:xfrm>
          <a:prstGeom prst="rect">
            <a:avLst/>
          </a:prstGeom>
          <a:solidFill>
            <a:srgbClr val="F0F9FB"/>
          </a:solidFill>
          <a:ln w="12700">
            <a:solidFill>
              <a:srgbClr val="F0F9F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94360" y="2907792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A93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employed_years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2834640" y="2907792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days_employed / -365.25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48640" y="3209544"/>
            <a:ext cx="484632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" y="324612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A93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employed_to_age_ratio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2834640" y="3246120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employed_years / age_years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48640" y="3547872"/>
            <a:ext cx="4846320" cy="320040"/>
          </a:xfrm>
          <a:prstGeom prst="rect">
            <a:avLst/>
          </a:prstGeom>
          <a:solidFill>
            <a:srgbClr val="F0F9FB"/>
          </a:solidFill>
          <a:ln w="12700">
            <a:solidFill>
              <a:srgbClr val="F0F9F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94360" y="3584448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A93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sin_hour / cos_hour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2834640" y="3584448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Cyclical encoding of application hour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548640" y="3886200"/>
            <a:ext cx="484632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94360" y="3922776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A93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ext_mean / ext_std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2834640" y="3922776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 &amp; std of ext_source_1, 2, 3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48640" y="4224528"/>
            <a:ext cx="4846320" cy="320040"/>
          </a:xfrm>
          <a:prstGeom prst="rect">
            <a:avLst/>
          </a:prstGeom>
          <a:solidFill>
            <a:srgbClr val="F0F9FB"/>
          </a:solidFill>
          <a:ln w="12700">
            <a:solidFill>
              <a:srgbClr val="F0F9F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94360" y="4261104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A93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ext_prod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2834640" y="4261104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ext_source_1 × ext_source_2 × ext_source_3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5669280" y="1005840"/>
            <a:ext cx="3017520" cy="3749040"/>
          </a:xfrm>
          <a:prstGeom prst="rect">
            <a:avLst/>
          </a:prstGeom>
          <a:solidFill>
            <a:srgbClr val="FFFFFF"/>
          </a:solidFill>
          <a:ln w="10160">
            <a:solidFill>
              <a:srgbClr val="E2EEF4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5852160" y="1115568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A93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Column Reduction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5852160" y="1600200"/>
            <a:ext cx="2377440" cy="292608"/>
          </a:xfrm>
          <a:prstGeom prst="rect">
            <a:avLst/>
          </a:prstGeom>
          <a:solidFill>
            <a:srgbClr val="0A9396"/>
          </a:solidFill>
          <a:ln w="12700">
            <a:solidFill>
              <a:srgbClr val="0A9396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852160" y="1911096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Info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7955280" y="1911096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0A93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5852160" y="2221992"/>
            <a:ext cx="1011677" cy="292608"/>
          </a:xfrm>
          <a:prstGeom prst="rect">
            <a:avLst/>
          </a:prstGeom>
          <a:solidFill>
            <a:srgbClr val="1D7A8C"/>
          </a:solidFill>
          <a:ln w="12700">
            <a:solidFill>
              <a:srgbClr val="1D7A8C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852160" y="2532888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 Flags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7955280" y="2532888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1D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5852160" y="2843784"/>
            <a:ext cx="303503" cy="292608"/>
          </a:xfrm>
          <a:prstGeom prst="rect">
            <a:avLst/>
          </a:prstGeom>
          <a:solidFill>
            <a:srgbClr val="2E6E8E"/>
          </a:solidFill>
          <a:ln w="12700">
            <a:solidFill>
              <a:srgbClr val="2E6E8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852160" y="315468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Enquiries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7955280" y="315468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2E6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5852160" y="3465576"/>
            <a:ext cx="151751" cy="292608"/>
          </a:xfrm>
          <a:prstGeom prst="rect">
            <a:avLst/>
          </a:prstGeom>
          <a:solidFill>
            <a:srgbClr val="3B5FA0"/>
          </a:solidFill>
          <a:ln w="12700">
            <a:solidFill>
              <a:srgbClr val="3B5FA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852160" y="3776472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 Flags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7955280" y="3776472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3B5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5852160" y="4087368"/>
            <a:ext cx="202335" cy="292608"/>
          </a:xfrm>
          <a:prstGeom prst="rect">
            <a:avLst/>
          </a:prstGeom>
          <a:solidFill>
            <a:srgbClr val="3B4E8C"/>
          </a:solidFill>
          <a:ln w="12700">
            <a:solidFill>
              <a:srgbClr val="3B4E8C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852160" y="4398264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7955280" y="4398264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3B4E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Benchmarking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41248"/>
            <a:ext cx="8229600" cy="27432"/>
          </a:xfrm>
          <a:prstGeom prst="rect">
            <a:avLst/>
          </a:prstGeom>
          <a:solidFill>
            <a:srgbClr val="0A9396"/>
          </a:solidFill>
          <a:ln w="12700">
            <a:solidFill>
              <a:srgbClr val="0A9396"/>
            </a:solidFill>
            <a:prstDash val="solid"/>
          </a:ln>
        </p:spPr>
      </p:sp>
      <p:graphicFrame>
        <p:nvGraphicFramePr>
          <p:cNvPr id="4" name="Chart 0"/>
          <p:cNvGraphicFramePr/>
          <p:nvPr>
            <p:extLst>
              <p:ext uri="{D42A27DB-BD31-4B8C-83A1-F6EECF244321}">
                <p14:modId xmlns:p14="http://schemas.microsoft.com/office/powerpoint/2010/main" val="2925018330"/>
              </p:ext>
            </p:extLst>
          </p:nvPr>
        </p:nvGraphicFramePr>
        <p:xfrm>
          <a:off x="457200" y="1005840"/>
          <a:ext cx="5029200" cy="3291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Shape 2"/>
          <p:cNvSpPr/>
          <p:nvPr/>
        </p:nvSpPr>
        <p:spPr>
          <a:xfrm>
            <a:off x="5669280" y="1005840"/>
            <a:ext cx="3017520" cy="3291840"/>
          </a:xfrm>
          <a:prstGeom prst="rect">
            <a:avLst/>
          </a:prstGeom>
          <a:solidFill>
            <a:srgbClr val="FFFFFF"/>
          </a:solidFill>
          <a:ln w="10160">
            <a:solidFill>
              <a:srgbClr val="E2EEF4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5852160" y="1115568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A93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Models Compared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5715000" y="1517904"/>
            <a:ext cx="2926080" cy="384048"/>
          </a:xfrm>
          <a:prstGeom prst="rect">
            <a:avLst/>
          </a:prstGeom>
          <a:solidFill>
            <a:srgbClr val="0A9396"/>
          </a:solidFill>
          <a:ln w="12700">
            <a:solidFill>
              <a:srgbClr val="0A9396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806440" y="15544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766560" y="155448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5-Fold CV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7635240" y="155448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5715000" y="1947672"/>
            <a:ext cx="292608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806440" y="198424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766560" y="1984248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0.7603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7635240" y="1984248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0.7679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5715000" y="2377440"/>
            <a:ext cx="2926080" cy="384048"/>
          </a:xfrm>
          <a:prstGeom prst="rect">
            <a:avLst/>
          </a:prstGeom>
          <a:solidFill>
            <a:srgbClr val="F0F9FB"/>
          </a:solidFill>
          <a:ln w="12700">
            <a:solidFill>
              <a:srgbClr val="F0F9FB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806440" y="241401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PR-AUC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6766560" y="2414016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0.2437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7635240" y="2414016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0.2553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5715000" y="2807208"/>
            <a:ext cx="292608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5806440" y="284378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6766560" y="2843784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7635240" y="2843784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0.2911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5715000" y="3236976"/>
            <a:ext cx="2926080" cy="384048"/>
          </a:xfrm>
          <a:prstGeom prst="rect">
            <a:avLst/>
          </a:prstGeom>
          <a:solidFill>
            <a:srgbClr val="F0F9FB"/>
          </a:solidFill>
          <a:ln w="12700">
            <a:solidFill>
              <a:srgbClr val="F0F9FB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5806440" y="32735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Precision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6766560" y="327355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7635240" y="327355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0.1894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5715000" y="3666744"/>
            <a:ext cx="292608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5806440" y="37033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100" dirty="0"/>
          </a:p>
        </p:txBody>
      </p:sp>
      <p:sp>
        <p:nvSpPr>
          <p:cNvPr id="29" name="Text 26"/>
          <p:cNvSpPr/>
          <p:nvPr/>
        </p:nvSpPr>
        <p:spPr>
          <a:xfrm>
            <a:off x="6766560" y="37033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7635240" y="37033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0.6290</a:t>
            </a:r>
            <a:endParaRPr lang="en-US" sz="1100" dirty="0"/>
          </a:p>
        </p:txBody>
      </p:sp>
      <p:sp>
        <p:nvSpPr>
          <p:cNvPr id="31" name="Text 28"/>
          <p:cNvSpPr/>
          <p:nvPr/>
        </p:nvSpPr>
        <p:spPr>
          <a:xfrm>
            <a:off x="5715000" y="406908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LightGBM selected for tuning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Hyperparameter Tuning — Optuna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41248"/>
            <a:ext cx="8229600" cy="27432"/>
          </a:xfrm>
          <a:prstGeom prst="rect">
            <a:avLst/>
          </a:prstGeom>
          <a:solidFill>
            <a:srgbClr val="0A9396"/>
          </a:solidFill>
          <a:ln w="12700">
            <a:solidFill>
              <a:srgbClr val="0A939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05840"/>
            <a:ext cx="8229600" cy="777240"/>
          </a:xfrm>
          <a:prstGeom prst="rect">
            <a:avLst/>
          </a:prstGeom>
          <a:solidFill>
            <a:srgbClr val="EBF8FA"/>
          </a:solidFill>
          <a:ln w="10160">
            <a:solidFill>
              <a:srgbClr val="E2EEF4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170432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  =  mean_val_AUC  −  GAP_PENALTY × mean(train_AUC − val_AUC)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1920240"/>
            <a:ext cx="4206240" cy="2834640"/>
          </a:xfrm>
          <a:prstGeom prst="rect">
            <a:avLst/>
          </a:prstGeom>
          <a:solidFill>
            <a:srgbClr val="FFFFFF"/>
          </a:solidFill>
          <a:ln w="10160">
            <a:solidFill>
              <a:srgbClr val="E2EEF4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40080" y="2029968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A93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Space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2432304"/>
            <a:ext cx="4023360" cy="301752"/>
          </a:xfrm>
          <a:prstGeom prst="rect">
            <a:avLst/>
          </a:prstGeom>
          <a:solidFill>
            <a:srgbClr val="F0F9FB"/>
          </a:solidFill>
          <a:ln w="12700">
            <a:solidFill>
              <a:srgbClr val="F0F9F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21792" y="2468880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A93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n_estimators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2606040" y="246888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500 – 2,000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48640" y="2761488"/>
            <a:ext cx="4023360" cy="3017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21792" y="2798064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A93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learning_rate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606040" y="2798064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0.01 – 0.10 (log)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48640" y="3090672"/>
            <a:ext cx="4023360" cy="301752"/>
          </a:xfrm>
          <a:prstGeom prst="rect">
            <a:avLst/>
          </a:prstGeom>
          <a:solidFill>
            <a:srgbClr val="F0F9FB"/>
          </a:solidFill>
          <a:ln w="12700">
            <a:solidFill>
              <a:srgbClr val="F0F9F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1792" y="3127248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A93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num_leaves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2606040" y="3127248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– 63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48640" y="3419856"/>
            <a:ext cx="4023360" cy="3017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21792" y="3456432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A93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max_depth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2606040" y="3456432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– 6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48640" y="3749040"/>
            <a:ext cx="4023360" cy="301752"/>
          </a:xfrm>
          <a:prstGeom prst="rect">
            <a:avLst/>
          </a:prstGeom>
          <a:solidFill>
            <a:srgbClr val="F0F9FB"/>
          </a:solidFill>
          <a:ln w="12700">
            <a:solidFill>
              <a:srgbClr val="F0F9F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21792" y="3785616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A93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min_child_samples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2606040" y="3785616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– 500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48640" y="4078224"/>
            <a:ext cx="4023360" cy="3017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21792" y="4114800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A93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subsample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2606040" y="411480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0.6 – 1.0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548640" y="4407408"/>
            <a:ext cx="4023360" cy="301752"/>
          </a:xfrm>
          <a:prstGeom prst="rect">
            <a:avLst/>
          </a:prstGeom>
          <a:solidFill>
            <a:srgbClr val="F0F9FB"/>
          </a:solidFill>
          <a:ln w="12700">
            <a:solidFill>
              <a:srgbClr val="F0F9F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21792" y="4443984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A93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reg_alpha / lambda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2606040" y="4443984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1e-4 – 10.0 (log)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4846320" y="1920240"/>
            <a:ext cx="2011680" cy="1325880"/>
          </a:xfrm>
          <a:prstGeom prst="rect">
            <a:avLst/>
          </a:prstGeom>
          <a:solidFill>
            <a:srgbClr val="FFFFFF"/>
          </a:solidFill>
          <a:ln w="10160">
            <a:solidFill>
              <a:srgbClr val="E2EEF4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4846320" y="2084832"/>
            <a:ext cx="2011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0A93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</a:t>
            </a:r>
            <a:endParaRPr lang="en-US" sz="3800" dirty="0"/>
          </a:p>
        </p:txBody>
      </p:sp>
      <p:sp>
        <p:nvSpPr>
          <p:cNvPr id="31" name="Text 29"/>
          <p:cNvSpPr/>
          <p:nvPr/>
        </p:nvSpPr>
        <p:spPr>
          <a:xfrm>
            <a:off x="4846320" y="2743200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Optuna Trials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7040880" y="1920240"/>
            <a:ext cx="2011680" cy="1325880"/>
          </a:xfrm>
          <a:prstGeom prst="rect">
            <a:avLst/>
          </a:prstGeom>
          <a:solidFill>
            <a:srgbClr val="FFFFFF"/>
          </a:solidFill>
          <a:ln w="10160">
            <a:solidFill>
              <a:srgbClr val="E2EEF4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7040880" y="2084832"/>
            <a:ext cx="2011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1D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1,500s</a:t>
            </a:r>
            <a:endParaRPr lang="en-US" sz="3200" dirty="0"/>
          </a:p>
        </p:txBody>
      </p:sp>
      <p:sp>
        <p:nvSpPr>
          <p:cNvPr id="34" name="Text 32"/>
          <p:cNvSpPr/>
          <p:nvPr/>
        </p:nvSpPr>
        <p:spPr>
          <a:xfrm>
            <a:off x="7040880" y="2743200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Timeout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4846320" y="3429000"/>
            <a:ext cx="4206240" cy="1325880"/>
          </a:xfrm>
          <a:prstGeom prst="rect">
            <a:avLst/>
          </a:prstGeom>
          <a:solidFill>
            <a:srgbClr val="FFFFFF"/>
          </a:solidFill>
          <a:ln w="10160">
            <a:solidFill>
              <a:srgbClr val="E2EEF4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5029200" y="356616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Gap-Penalised Objective rewards generalisation — not just memorisation.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5029200" y="4160520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Overfitting gap: 0.1204 → 0.0632  (−47%)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Results — Tuned LightGBM v2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41248"/>
            <a:ext cx="8229600" cy="27432"/>
          </a:xfrm>
          <a:prstGeom prst="rect">
            <a:avLst/>
          </a:prstGeom>
          <a:solidFill>
            <a:srgbClr val="0A9396"/>
          </a:solidFill>
          <a:ln w="12700">
            <a:solidFill>
              <a:srgbClr val="0A939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05840"/>
            <a:ext cx="1554480" cy="1417320"/>
          </a:xfrm>
          <a:prstGeom prst="rect">
            <a:avLst/>
          </a:prstGeom>
          <a:solidFill>
            <a:srgbClr val="FFFFFF"/>
          </a:solidFill>
          <a:ln w="10160">
            <a:solidFill>
              <a:srgbClr val="E2EEF4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005840"/>
            <a:ext cx="1554480" cy="109728"/>
          </a:xfrm>
          <a:prstGeom prst="rect">
            <a:avLst/>
          </a:prstGeom>
          <a:solidFill>
            <a:srgbClr val="0A9396"/>
          </a:solidFill>
          <a:ln w="12700">
            <a:solidFill>
              <a:srgbClr val="0A939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18872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0A93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0.7710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457200" y="1828800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210312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+0.0031 vs v1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157984" y="1005840"/>
            <a:ext cx="1554480" cy="1417320"/>
          </a:xfrm>
          <a:prstGeom prst="rect">
            <a:avLst/>
          </a:prstGeom>
          <a:solidFill>
            <a:srgbClr val="FFFFFF"/>
          </a:solidFill>
          <a:ln w="10160">
            <a:solidFill>
              <a:srgbClr val="E2EEF4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157984" y="1005840"/>
            <a:ext cx="1554480" cy="109728"/>
          </a:xfrm>
          <a:prstGeom prst="rect">
            <a:avLst/>
          </a:prstGeom>
          <a:solidFill>
            <a:srgbClr val="1D7A8C"/>
          </a:solidFill>
          <a:ln w="12700">
            <a:solidFill>
              <a:srgbClr val="1D7A8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157984" y="118872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1D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0.2592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2157984" y="1828800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PR-AUC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157984" y="210312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+0.0039 vs v1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3858768" y="1005840"/>
            <a:ext cx="1554480" cy="1417320"/>
          </a:xfrm>
          <a:prstGeom prst="rect">
            <a:avLst/>
          </a:prstGeom>
          <a:solidFill>
            <a:srgbClr val="FFFFFF"/>
          </a:solidFill>
          <a:ln w="10160">
            <a:solidFill>
              <a:srgbClr val="E2EEF4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3858768" y="1005840"/>
            <a:ext cx="1554480" cy="109728"/>
          </a:xfrm>
          <a:prstGeom prst="rect">
            <a:avLst/>
          </a:prstGeom>
          <a:solidFill>
            <a:srgbClr val="2E6E8E"/>
          </a:solidFill>
          <a:ln w="12700">
            <a:solidFill>
              <a:srgbClr val="2E6E8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858768" y="118872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2E6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0.3199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3858768" y="1828800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858768" y="210312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+0.0288 vs v1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5559552" y="1005840"/>
            <a:ext cx="1554480" cy="1417320"/>
          </a:xfrm>
          <a:prstGeom prst="rect">
            <a:avLst/>
          </a:prstGeom>
          <a:solidFill>
            <a:srgbClr val="FFFFFF"/>
          </a:solidFill>
          <a:ln w="10160">
            <a:solidFill>
              <a:srgbClr val="E2EEF4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5559552" y="1005840"/>
            <a:ext cx="1554480" cy="109728"/>
          </a:xfrm>
          <a:prstGeom prst="rect">
            <a:avLst/>
          </a:prstGeom>
          <a:solidFill>
            <a:srgbClr val="3B5FA0"/>
          </a:solidFill>
          <a:ln w="12700">
            <a:solidFill>
              <a:srgbClr val="3B5FA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559552" y="118872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3B5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0.2575</a:t>
            </a:r>
            <a:endParaRPr lang="en-US" sz="3000" dirty="0"/>
          </a:p>
        </p:txBody>
      </p:sp>
      <p:sp>
        <p:nvSpPr>
          <p:cNvPr id="22" name="Text 20"/>
          <p:cNvSpPr/>
          <p:nvPr/>
        </p:nvSpPr>
        <p:spPr>
          <a:xfrm>
            <a:off x="5559552" y="1828800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Precision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559552" y="210312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+0.0681 vs v1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7260336" y="1005840"/>
            <a:ext cx="1554480" cy="1417320"/>
          </a:xfrm>
          <a:prstGeom prst="rect">
            <a:avLst/>
          </a:prstGeom>
          <a:solidFill>
            <a:srgbClr val="FFFFFF"/>
          </a:solidFill>
          <a:ln w="10160">
            <a:solidFill>
              <a:srgbClr val="E2EEF4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7260336" y="1005840"/>
            <a:ext cx="1554480" cy="109728"/>
          </a:xfrm>
          <a:prstGeom prst="rect">
            <a:avLst/>
          </a:prstGeom>
          <a:solidFill>
            <a:srgbClr val="3B4E8C"/>
          </a:solidFill>
          <a:ln w="12700">
            <a:solidFill>
              <a:srgbClr val="3B4E8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260336" y="118872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3B4E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0.665</a:t>
            </a:r>
            <a:endParaRPr lang="en-US" sz="3000" dirty="0"/>
          </a:p>
        </p:txBody>
      </p:sp>
      <p:sp>
        <p:nvSpPr>
          <p:cNvPr id="27" name="Text 25"/>
          <p:cNvSpPr/>
          <p:nvPr/>
        </p:nvSpPr>
        <p:spPr>
          <a:xfrm>
            <a:off x="7260336" y="1828800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Threshold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7260336" y="210312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F1-optimal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457200" y="2606040"/>
            <a:ext cx="8229600" cy="2103120"/>
          </a:xfrm>
          <a:prstGeom prst="rect">
            <a:avLst/>
          </a:prstGeom>
          <a:solidFill>
            <a:srgbClr val="FFFFFF"/>
          </a:solidFill>
          <a:ln w="10160">
            <a:solidFill>
              <a:srgbClr val="E2EEF4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640080" y="2706624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A93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 Comparison</a:t>
            </a:r>
            <a:endParaRPr lang="en-US" sz="130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090672"/>
          <a:ext cx="8046717" cy="1627632"/>
        </p:xfrm>
        <a:graphic>
          <a:graphicData uri="http://schemas.openxmlformats.org/drawingml/2006/table">
            <a:tbl>
              <a:tblPr/>
              <a:tblGrid>
                <a:gridCol w="114953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4953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4953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4953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4953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4953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49531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Version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E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E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E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E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939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AUC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E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E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E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E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939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PR-AUC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E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E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E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E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939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E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E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E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E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939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Precision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E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E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E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E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939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Recall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E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E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E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E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939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Features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E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E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E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E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939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LightGBM v1 (untuned)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E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E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E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E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0.7679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E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E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E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E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0.2553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E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E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E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E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0.2911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E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E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E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E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0.1894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E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E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E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E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0.6290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E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E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E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E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E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E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E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E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LightGBM v2 (baseline)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E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E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E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E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0.7665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E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E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E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E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0.2528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E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E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E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E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0.2895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E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E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E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E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0.1875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E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E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E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E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0.6344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E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E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E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E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E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E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E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E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LightGBM v2 (tuned) ✓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E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E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E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E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0A939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0.7710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E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E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E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E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0A939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0.2592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E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E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E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E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0A939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0.3199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E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E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E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E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0A939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0.2575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E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E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E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E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0.4224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E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E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E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E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0A939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E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E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E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E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2" name="Text 29"/>
          <p:cNvSpPr/>
          <p:nvPr/>
        </p:nvSpPr>
        <p:spPr>
          <a:xfrm>
            <a:off x="548640" y="4773168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Benchmark: Will Koehrsen single-table baseline = 0.7526  |  This model: 0.7710  (+0.0184)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 Dashboard — CreditIQ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41248"/>
            <a:ext cx="8229600" cy="27432"/>
          </a:xfrm>
          <a:prstGeom prst="rect">
            <a:avLst/>
          </a:prstGeom>
          <a:solidFill>
            <a:srgbClr val="0A9396"/>
          </a:solidFill>
          <a:ln w="12700">
            <a:solidFill>
              <a:srgbClr val="0A939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51560"/>
            <a:ext cx="8229600" cy="658368"/>
          </a:xfrm>
          <a:prstGeom prst="rect">
            <a:avLst/>
          </a:prstGeom>
          <a:solidFill>
            <a:srgbClr val="FFFFFF"/>
          </a:solidFill>
          <a:ln w="10160">
            <a:solidFill>
              <a:srgbClr val="E2EEF4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051560"/>
            <a:ext cx="502920" cy="658368"/>
          </a:xfrm>
          <a:prstGeom prst="rect">
            <a:avLst/>
          </a:prstGeom>
          <a:solidFill>
            <a:srgbClr val="0A9396"/>
          </a:solidFill>
          <a:ln w="12700">
            <a:solidFill>
              <a:srgbClr val="0A939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051560"/>
            <a:ext cx="502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📊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097280" y="1106424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097280" y="1399032"/>
            <a:ext cx="7406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statistics, class distribution, dropped column summary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1819656"/>
            <a:ext cx="8229600" cy="658368"/>
          </a:xfrm>
          <a:prstGeom prst="rect">
            <a:avLst/>
          </a:prstGeom>
          <a:solidFill>
            <a:srgbClr val="FFFFFF"/>
          </a:solidFill>
          <a:ln w="10160">
            <a:solidFill>
              <a:srgbClr val="E2EEF4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7200" y="1819656"/>
            <a:ext cx="502920" cy="658368"/>
          </a:xfrm>
          <a:prstGeom prst="rect">
            <a:avLst/>
          </a:prstGeom>
          <a:solidFill>
            <a:srgbClr val="0A9396"/>
          </a:solidFill>
          <a:ln w="12700">
            <a:solidFill>
              <a:srgbClr val="0A939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1819656"/>
            <a:ext cx="502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🔍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097280" y="187452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EDA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097280" y="2167128"/>
            <a:ext cx="7406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Interactive distributions, missing value heatmap, correlation matrix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57200" y="2587752"/>
            <a:ext cx="8229600" cy="658368"/>
          </a:xfrm>
          <a:prstGeom prst="rect">
            <a:avLst/>
          </a:prstGeom>
          <a:solidFill>
            <a:srgbClr val="FFFFFF"/>
          </a:solidFill>
          <a:ln w="10160">
            <a:solidFill>
              <a:srgbClr val="E2EEF4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7200" y="2587752"/>
            <a:ext cx="502920" cy="658368"/>
          </a:xfrm>
          <a:prstGeom prst="rect">
            <a:avLst/>
          </a:prstGeom>
          <a:solidFill>
            <a:srgbClr val="0A9396"/>
          </a:solidFill>
          <a:ln w="12700">
            <a:solidFill>
              <a:srgbClr val="0A939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7200" y="2587752"/>
            <a:ext cx="502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🏆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097280" y="2642616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Comparison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097280" y="2935224"/>
            <a:ext cx="7406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AUC, F1, confusion matrices, threshold analysis for all 4 models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3355848"/>
            <a:ext cx="8229600" cy="658368"/>
          </a:xfrm>
          <a:prstGeom prst="rect">
            <a:avLst/>
          </a:prstGeom>
          <a:solidFill>
            <a:srgbClr val="FFFFFF"/>
          </a:solidFill>
          <a:ln w="10160">
            <a:solidFill>
              <a:srgbClr val="E2EEF4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57200" y="3355848"/>
            <a:ext cx="502920" cy="658368"/>
          </a:xfrm>
          <a:prstGeom prst="rect">
            <a:avLst/>
          </a:prstGeom>
          <a:solidFill>
            <a:srgbClr val="0A9396"/>
          </a:solidFill>
          <a:ln w="12700">
            <a:solidFill>
              <a:srgbClr val="0A939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57200" y="3355848"/>
            <a:ext cx="502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📈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1097280" y="3410712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Importance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097280" y="3703320"/>
            <a:ext cx="7406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Top-N importance chart, cumulative coverage by threshold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457200" y="4123944"/>
            <a:ext cx="8229600" cy="658368"/>
          </a:xfrm>
          <a:prstGeom prst="rect">
            <a:avLst/>
          </a:prstGeom>
          <a:solidFill>
            <a:srgbClr val="FFFFFF"/>
          </a:solidFill>
          <a:ln w="10160">
            <a:solidFill>
              <a:srgbClr val="E2EEF4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57200" y="4123944"/>
            <a:ext cx="502920" cy="658368"/>
          </a:xfrm>
          <a:prstGeom prst="rect">
            <a:avLst/>
          </a:prstGeom>
          <a:solidFill>
            <a:srgbClr val="0A9396"/>
          </a:solidFill>
          <a:ln w="12700">
            <a:solidFill>
              <a:srgbClr val="0A939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57200" y="4123944"/>
            <a:ext cx="502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🎯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1097280" y="4178808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1097280" y="4471416"/>
            <a:ext cx="7406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default probability with gauge chart and risk tier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 &amp; Future Work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41248"/>
            <a:ext cx="8229600" cy="27432"/>
          </a:xfrm>
          <a:prstGeom prst="rect">
            <a:avLst/>
          </a:prstGeom>
          <a:solidFill>
            <a:srgbClr val="0A9396"/>
          </a:solidFill>
          <a:ln w="12700">
            <a:solidFill>
              <a:srgbClr val="0A939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05840"/>
            <a:ext cx="4114800" cy="3749040"/>
          </a:xfrm>
          <a:prstGeom prst="rect">
            <a:avLst/>
          </a:prstGeom>
          <a:solidFill>
            <a:srgbClr val="FFFFFF"/>
          </a:solidFill>
          <a:ln w="10160">
            <a:solidFill>
              <a:srgbClr val="E2EEF4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115568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Limitations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581912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table only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1819656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Supplementary tables not joined (expected +0.03 AUC)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40080" y="2093976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OOT validation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40080" y="2331720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split used; production needs date-based split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40080" y="2606040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Threshold on test set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40080" y="2843784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optimistic bias from test-set threshold selection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40080" y="3118104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imbalance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40080" y="3355848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8% default rate limits recall despite scale_pos_weight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40080" y="3630168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Black-box model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40080" y="386791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Regulated environments may need a scorecard model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40080" y="4142232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Fairness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40080" y="4379976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Gender/education features — fairness audit required before deployment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754880" y="1005840"/>
            <a:ext cx="3931920" cy="3749040"/>
          </a:xfrm>
          <a:prstGeom prst="rect">
            <a:avLst/>
          </a:prstGeom>
          <a:solidFill>
            <a:srgbClr val="FFFFFF"/>
          </a:solidFill>
          <a:ln w="10160">
            <a:solidFill>
              <a:srgbClr val="E2EEF4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937760" y="1115568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A93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🚀 What's Next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4937760" y="1618488"/>
            <a:ext cx="329184" cy="329184"/>
          </a:xfrm>
          <a:prstGeom prst="ellipse">
            <a:avLst/>
          </a:prstGeom>
          <a:solidFill>
            <a:srgbClr val="0A9396"/>
          </a:solidFill>
          <a:ln w="12700">
            <a:solidFill>
              <a:srgbClr val="0A939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937760" y="1618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394960" y="1581912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 supplementary tables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394960" y="1856232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bureau.csv alone expected to push AUC &gt; 0.79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937760" y="2258568"/>
            <a:ext cx="329184" cy="329184"/>
          </a:xfrm>
          <a:prstGeom prst="ellipse">
            <a:avLst/>
          </a:prstGeom>
          <a:solidFill>
            <a:srgbClr val="0A9396"/>
          </a:solidFill>
          <a:ln w="12700">
            <a:solidFill>
              <a:srgbClr val="0A939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937760" y="22585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5394960" y="2221992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Out-of-time validation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5394960" y="2496312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 by DAYS_DECISION for production simulation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937760" y="2898648"/>
            <a:ext cx="329184" cy="329184"/>
          </a:xfrm>
          <a:prstGeom prst="ellipse">
            <a:avLst/>
          </a:prstGeom>
          <a:solidFill>
            <a:srgbClr val="0A9396"/>
          </a:solidFill>
          <a:ln w="12700">
            <a:solidFill>
              <a:srgbClr val="0A9396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937760" y="28986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5394960" y="2862072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Fairness audit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5394960" y="3136392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Demographic parity &amp; equalised odds across subgroups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937760" y="3538728"/>
            <a:ext cx="329184" cy="329184"/>
          </a:xfrm>
          <a:prstGeom prst="ellipse">
            <a:avLst/>
          </a:prstGeom>
          <a:solidFill>
            <a:srgbClr val="0A9396"/>
          </a:solidFill>
          <a:ln w="12700">
            <a:solidFill>
              <a:srgbClr val="0A9396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937760" y="35387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5394960" y="3502152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 explanations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5394960" y="3776472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Individual prediction explainability in the dashboard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4937760" y="4178808"/>
            <a:ext cx="329184" cy="329184"/>
          </a:xfrm>
          <a:prstGeom prst="ellipse">
            <a:avLst/>
          </a:prstGeom>
          <a:solidFill>
            <a:srgbClr val="0A9396"/>
          </a:solidFill>
          <a:ln w="12700">
            <a:solidFill>
              <a:srgbClr val="0A9396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937760" y="41788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5394960" y="4142232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retraining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5394960" y="4416552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Trigger on PSI-based distribution drift monitoring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A9396"/>
          </a:solidFill>
          <a:ln w="12700">
            <a:solidFill>
              <a:srgbClr val="0A939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943600" y="2743200"/>
            <a:ext cx="4114800" cy="4114800"/>
          </a:xfrm>
          <a:prstGeom prst="ellipse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502920"/>
            <a:ext cx="6400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Takeaways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411480" y="1207008"/>
            <a:ext cx="109728" cy="347472"/>
          </a:xfrm>
          <a:prstGeom prst="rect">
            <a:avLst/>
          </a:prstGeom>
          <a:solidFill>
            <a:srgbClr val="0A9396"/>
          </a:solidFill>
          <a:ln w="12700">
            <a:solidFill>
              <a:srgbClr val="0A939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207008"/>
            <a:ext cx="5943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D0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Tuned LightGBM v2 achieves AUC 0.7710  —  surpassing the single-table baseline of 0.7526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11480" y="1865376"/>
            <a:ext cx="109728" cy="347472"/>
          </a:xfrm>
          <a:prstGeom prst="rect">
            <a:avLst/>
          </a:prstGeom>
          <a:solidFill>
            <a:srgbClr val="0A9396"/>
          </a:solidFill>
          <a:ln w="12700">
            <a:solidFill>
              <a:srgbClr val="0A939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1865376"/>
            <a:ext cx="5943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D0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set reduced from 153 → 29 with no meaningful performance loss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11480" y="2523744"/>
            <a:ext cx="109728" cy="347472"/>
          </a:xfrm>
          <a:prstGeom prst="rect">
            <a:avLst/>
          </a:prstGeom>
          <a:solidFill>
            <a:srgbClr val="0A9396"/>
          </a:solidFill>
          <a:ln w="12700">
            <a:solidFill>
              <a:srgbClr val="0A939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523744"/>
            <a:ext cx="5943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D0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Gap-penalised Optuna objective cut overfitting gap from 0.1204 to 0.0632 (−47%)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11480" y="3182112"/>
            <a:ext cx="109728" cy="347472"/>
          </a:xfrm>
          <a:prstGeom prst="rect">
            <a:avLst/>
          </a:prstGeom>
          <a:solidFill>
            <a:srgbClr val="0A9396"/>
          </a:solidFill>
          <a:ln w="12700">
            <a:solidFill>
              <a:srgbClr val="0A939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3182112"/>
            <a:ext cx="5943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D0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leak-proof sklearn Pipeline ready for production serialization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11480" y="3840480"/>
            <a:ext cx="109728" cy="347472"/>
          </a:xfrm>
          <a:prstGeom prst="rect">
            <a:avLst/>
          </a:prstGeom>
          <a:solidFill>
            <a:srgbClr val="0A9396"/>
          </a:solidFill>
          <a:ln w="12700">
            <a:solidFill>
              <a:srgbClr val="0A939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3840480"/>
            <a:ext cx="5943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D0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Interactive Streamlit dashboard covers EDA, comparison, and live inference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11480" y="466344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94D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github.com/your-username/credit-risk-prediction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41</TotalTime>
  <Words>926</Words>
  <Application>Microsoft Office PowerPoint</Application>
  <PresentationFormat>On-screen Show (16:9)</PresentationFormat>
  <Paragraphs>247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Credit Risk Prediction</dc:title>
  <dc:subject>PptxGenJS Presentation</dc:subject>
  <dc:creator>PptxGenJS</dc:creator>
  <cp:lastModifiedBy>Nigar Abdullazade</cp:lastModifiedBy>
  <cp:revision>2</cp:revision>
  <dcterms:created xsi:type="dcterms:W3CDTF">2026-05-15T18:40:55Z</dcterms:created>
  <dcterms:modified xsi:type="dcterms:W3CDTF">2026-05-15T20:51:45Z</dcterms:modified>
</cp:coreProperties>
</file>